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4"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2A31-EAB8-6F9B-A987-22DF2F86E3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87D7A0-B760-7457-42D5-DCE3EF371A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941761-85D0-C1B6-947E-38EE4405E5B4}"/>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3072B3C6-B048-223E-336E-C1A49E62F0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DD317-1DD1-59E0-A989-06CA80406559}"/>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208360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517EF-456B-D1D8-9435-2B3664FBF9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372757-BDAD-7A69-1E6A-8607F96F0E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6D1D1-4472-D89B-C3BE-71C3F3B707F1}"/>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201E4C69-4E60-21DC-A2D5-DCD06BB24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F62FAE-C3F6-0477-DDA3-9E8F11502DC4}"/>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3438547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E075-6A4F-EDB5-B3AE-4D05897B73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4ECED9-6732-B462-EC8D-951964DF9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1CED1-C20D-6E78-7B82-BE9047F36D7C}"/>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01841B7C-042B-57A2-9DF6-06820A756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D1265-5390-FA84-5AF0-EDAB2D980C78}"/>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153238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F192-DD9E-F547-38B6-354E384AE2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34E0A-D9E6-EB9D-BB4B-D5518FE3AF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014A53-58C8-EA67-EA91-1B7EAAB07E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4651B6-1717-C4F9-FF54-BE479F682186}"/>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6" name="Footer Placeholder 5">
            <a:extLst>
              <a:ext uri="{FF2B5EF4-FFF2-40B4-BE49-F238E27FC236}">
                <a16:creationId xmlns:a16="http://schemas.microsoft.com/office/drawing/2014/main" id="{0703CC2B-F5C9-026A-F8E2-E59C86591C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C46B63-F55C-7B6C-8649-64D3547D038B}"/>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2581307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A9D2-D05C-0ACB-D94E-D96BCE68CA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FCFF7-3574-0FA3-0D76-666769BB9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1367FC-DF23-082C-205A-BEC2FDA9F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ED76C0-56C6-E396-88EC-1152F0022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F61C8-F0AB-269D-DB55-F6DF7DB845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B2FB60-2274-07FC-2F02-99F414C02EB4}"/>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8" name="Footer Placeholder 7">
            <a:extLst>
              <a:ext uri="{FF2B5EF4-FFF2-40B4-BE49-F238E27FC236}">
                <a16:creationId xmlns:a16="http://schemas.microsoft.com/office/drawing/2014/main" id="{1C391462-33F6-3799-29D5-B5D8E8F554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EAE263-A97C-55B1-809C-09C1CBEAF886}"/>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2208908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A48FB-3291-8393-7DD6-2A54C602AA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F10AA9-605B-C217-2E08-F5B70B73E0D4}"/>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4" name="Footer Placeholder 3">
            <a:extLst>
              <a:ext uri="{FF2B5EF4-FFF2-40B4-BE49-F238E27FC236}">
                <a16:creationId xmlns:a16="http://schemas.microsoft.com/office/drawing/2014/main" id="{D522433D-A5EA-2418-2178-670AFC688B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65F7FB-5974-D586-0F72-7AD7D558B0E2}"/>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688115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EAAF0D-5B4C-1FB7-8E58-697C4183D91E}"/>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3" name="Footer Placeholder 2">
            <a:extLst>
              <a:ext uri="{FF2B5EF4-FFF2-40B4-BE49-F238E27FC236}">
                <a16:creationId xmlns:a16="http://schemas.microsoft.com/office/drawing/2014/main" id="{4C6D2DB4-9DAD-C126-D50C-E166297B62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EB1B9B-A324-9BBD-B9F7-1EFF0BBC7065}"/>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303658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4C166-0CA4-4BC0-F3B9-DA8161B4CD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6827DD-5BE3-C1BF-93AA-2F19415CFD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E91A26-34F7-6297-19F9-E0C7F253E4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514BFF-D96C-BEB7-F8A6-349BAF6B60DD}"/>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6" name="Footer Placeholder 5">
            <a:extLst>
              <a:ext uri="{FF2B5EF4-FFF2-40B4-BE49-F238E27FC236}">
                <a16:creationId xmlns:a16="http://schemas.microsoft.com/office/drawing/2014/main" id="{326B725F-D9BD-B5CA-4652-EB31C1337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503FA-9AC9-9A80-B538-50B62B101B88}"/>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1071755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1758A-338B-048C-BFC2-E4432EA96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08B513-DCC3-6E7E-8BDD-DBB12E892A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56AEA1-F8C2-E0B5-A830-57F31AE9F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38683-009B-83F0-5DB0-9AE8CECF25F6}"/>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6" name="Footer Placeholder 5">
            <a:extLst>
              <a:ext uri="{FF2B5EF4-FFF2-40B4-BE49-F238E27FC236}">
                <a16:creationId xmlns:a16="http://schemas.microsoft.com/office/drawing/2014/main" id="{6046DDD3-EAF7-CECE-5888-B489A1981A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9BF2C9-984C-8BCE-9C30-A1639ACAC08A}"/>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2078028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69BC-A860-F188-9FB9-9767B12E4B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61AB5-F484-F217-0CB1-C682FAEE0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B9988-DE19-3E41-27A1-B1B475E8BB88}"/>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7EC4CFEB-7A4F-8E02-CE83-A25C21DB00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6B535-CD1D-86C1-50FB-A6FF89EECC8F}"/>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1764985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FEBADC-84C8-F283-D2AD-BA931B87DC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E411A8-8118-D46C-EFA2-88CC6A843D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5520A-81BE-1510-411A-6E61AA832EDD}"/>
              </a:ext>
            </a:extLst>
          </p:cNvPr>
          <p:cNvSpPr>
            <a:spLocks noGrp="1"/>
          </p:cNvSpPr>
          <p:nvPr>
            <p:ph type="dt" sz="half" idx="10"/>
          </p:nvPr>
        </p:nvSpPr>
        <p:spPr/>
        <p:txBody>
          <a:body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2A32E36D-73D7-8BDD-0A77-04BB5B9A8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414A-0411-FD8F-7942-E439605CA8ED}"/>
              </a:ext>
            </a:extLst>
          </p:cNvPr>
          <p:cNvSpPr>
            <a:spLocks noGrp="1"/>
          </p:cNvSpPr>
          <p:nvPr>
            <p:ph type="sldNum" sz="quarter" idx="12"/>
          </p:nvPr>
        </p:nvSpPr>
        <p:spPr/>
        <p:txBody>
          <a:bodyPr/>
          <a:lstStyle/>
          <a:p>
            <a:fld id="{1DCCEA30-AC8A-4AD3-ABE3-AB14BA2E8068}" type="slidenum">
              <a:rPr lang="en-US" smtClean="0"/>
              <a:t>‹#›</a:t>
            </a:fld>
            <a:endParaRPr lang="en-US"/>
          </a:p>
        </p:txBody>
      </p:sp>
    </p:spTree>
    <p:extLst>
      <p:ext uri="{BB962C8B-B14F-4D97-AF65-F5344CB8AC3E}">
        <p14:creationId xmlns:p14="http://schemas.microsoft.com/office/powerpoint/2010/main" val="33620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71032A-568C-4476-9184-9226FE7C5E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ADC988-122F-2401-00F3-B1DA0D5A14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89662-0AA2-1BE2-EB3B-D46DBD8946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494C4A-EDC4-49BB-B05A-45CB54D83BB2}" type="datetimeFigureOut">
              <a:rPr lang="en-US" smtClean="0"/>
              <a:t>9/19/2026</a:t>
            </a:fld>
            <a:endParaRPr lang="en-US"/>
          </a:p>
        </p:txBody>
      </p:sp>
      <p:sp>
        <p:nvSpPr>
          <p:cNvPr id="5" name="Footer Placeholder 4">
            <a:extLst>
              <a:ext uri="{FF2B5EF4-FFF2-40B4-BE49-F238E27FC236}">
                <a16:creationId xmlns:a16="http://schemas.microsoft.com/office/drawing/2014/main" id="{A1D6288A-00E1-450B-627B-C1C7ADB885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64A0E3B-EFF9-FC25-3119-3D85CEDB4E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CEA30-AC8A-4AD3-ABE3-AB14BA2E8068}" type="slidenum">
              <a:rPr lang="en-US" smtClean="0"/>
              <a:t>‹#›</a:t>
            </a:fld>
            <a:endParaRPr lang="en-US"/>
          </a:p>
        </p:txBody>
      </p:sp>
    </p:spTree>
    <p:extLst>
      <p:ext uri="{BB962C8B-B14F-4D97-AF65-F5344CB8AC3E}">
        <p14:creationId xmlns:p14="http://schemas.microsoft.com/office/powerpoint/2010/main" val="316596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DC7B9-6F2F-B7A2-50F2-CD6A1D4266BC}"/>
            </a:ext>
          </a:extLst>
        </p:cNvPr>
        <p:cNvGrpSpPr/>
        <p:nvPr/>
      </p:nvGrpSpPr>
      <p:grpSpPr>
        <a:xfrm>
          <a:off x="0" y="0"/>
          <a:ext cx="0" cy="0"/>
          <a:chOff x="0" y="0"/>
          <a:chExt cx="0" cy="0"/>
        </a:xfrm>
      </p:grpSpPr>
      <p:sp>
        <p:nvSpPr>
          <p:cNvPr id="394" name="TextBox 393">
            <a:extLst>
              <a:ext uri="{FF2B5EF4-FFF2-40B4-BE49-F238E27FC236}">
                <a16:creationId xmlns:a16="http://schemas.microsoft.com/office/drawing/2014/main" id="{A6797F6F-E4DC-BDF4-6121-6E1A1B2B0CF9}"/>
              </a:ext>
            </a:extLst>
          </p:cNvPr>
          <p:cNvSpPr txBox="1"/>
          <p:nvPr/>
        </p:nvSpPr>
        <p:spPr>
          <a:xfrm>
            <a:off x="3964389" y="105242"/>
            <a:ext cx="3950259" cy="400110"/>
          </a:xfrm>
          <a:prstGeom prst="rect">
            <a:avLst/>
          </a:prstGeom>
          <a:noFill/>
        </p:spPr>
        <p:txBody>
          <a:bodyPr wrap="square">
            <a:spAutoFit/>
          </a:bodyPr>
          <a:lstStyle/>
          <a:p>
            <a:r>
              <a:rPr lang="en-US" sz="2000" dirty="0"/>
              <a:t>AXI4 Interconnect Microarchitecture</a:t>
            </a:r>
            <a:endParaRPr lang="en-US" dirty="0"/>
          </a:p>
        </p:txBody>
      </p:sp>
      <p:grpSp>
        <p:nvGrpSpPr>
          <p:cNvPr id="13" name="Group 12">
            <a:extLst>
              <a:ext uri="{FF2B5EF4-FFF2-40B4-BE49-F238E27FC236}">
                <a16:creationId xmlns:a16="http://schemas.microsoft.com/office/drawing/2014/main" id="{C7FF1054-A998-BDDE-9466-7B18F5E05B0F}"/>
              </a:ext>
            </a:extLst>
          </p:cNvPr>
          <p:cNvGrpSpPr/>
          <p:nvPr/>
        </p:nvGrpSpPr>
        <p:grpSpPr>
          <a:xfrm>
            <a:off x="306654" y="664841"/>
            <a:ext cx="11555652" cy="5424740"/>
            <a:chOff x="306654" y="664841"/>
            <a:chExt cx="11555652" cy="5424740"/>
          </a:xfrm>
        </p:grpSpPr>
        <p:cxnSp>
          <p:nvCxnSpPr>
            <p:cNvPr id="264" name="Connector: Elbow 263">
              <a:extLst>
                <a:ext uri="{FF2B5EF4-FFF2-40B4-BE49-F238E27FC236}">
                  <a16:creationId xmlns:a16="http://schemas.microsoft.com/office/drawing/2014/main" id="{BBADDF9D-FE11-221C-FA94-D9B00BF5E820}"/>
                </a:ext>
              </a:extLst>
            </p:cNvPr>
            <p:cNvCxnSpPr>
              <a:cxnSpLocks/>
              <a:stCxn id="68" idx="3"/>
              <a:endCxn id="40" idx="1"/>
            </p:cNvCxnSpPr>
            <p:nvPr/>
          </p:nvCxnSpPr>
          <p:spPr>
            <a:xfrm flipV="1">
              <a:off x="4946143" y="1926946"/>
              <a:ext cx="837917" cy="3754072"/>
            </a:xfrm>
            <a:prstGeom prst="bentConnector3">
              <a:avLst>
                <a:gd name="adj1" fmla="val 58412"/>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Connector: Elbow 261">
              <a:extLst>
                <a:ext uri="{FF2B5EF4-FFF2-40B4-BE49-F238E27FC236}">
                  <a16:creationId xmlns:a16="http://schemas.microsoft.com/office/drawing/2014/main" id="{511AC923-9230-02A0-A907-597CDD21B42A}"/>
                </a:ext>
              </a:extLst>
            </p:cNvPr>
            <p:cNvCxnSpPr>
              <a:cxnSpLocks/>
              <a:stCxn id="66" idx="3"/>
              <a:endCxn id="40" idx="1"/>
            </p:cNvCxnSpPr>
            <p:nvPr/>
          </p:nvCxnSpPr>
          <p:spPr>
            <a:xfrm flipV="1">
              <a:off x="4938908" y="1926946"/>
              <a:ext cx="845152" cy="3055925"/>
            </a:xfrm>
            <a:prstGeom prst="bentConnector3">
              <a:avLst>
                <a:gd name="adj1" fmla="val 58716"/>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7E9FC61A-AAD9-1824-260D-AB8456FCACB2}"/>
                </a:ext>
              </a:extLst>
            </p:cNvPr>
            <p:cNvSpPr/>
            <p:nvPr/>
          </p:nvSpPr>
          <p:spPr>
            <a:xfrm>
              <a:off x="7856150" y="664841"/>
              <a:ext cx="2563991" cy="3995706"/>
            </a:xfrm>
            <a:prstGeom prst="rect">
              <a:avLst/>
            </a:prstGeom>
            <a:solidFill>
              <a:schemeClr val="accent4">
                <a:lumMod val="20000"/>
                <a:lumOff val="80000"/>
              </a:schemeClr>
            </a:solidFill>
            <a:ln>
              <a:solidFill>
                <a:schemeClr val="tx1"/>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4111459-8D27-46D3-0059-EEF236004159}"/>
                </a:ext>
              </a:extLst>
            </p:cNvPr>
            <p:cNvSpPr/>
            <p:nvPr/>
          </p:nvSpPr>
          <p:spPr>
            <a:xfrm>
              <a:off x="5580994" y="664841"/>
              <a:ext cx="1987692" cy="5424740"/>
            </a:xfrm>
            <a:prstGeom prst="rect">
              <a:avLst/>
            </a:prstGeom>
            <a:solidFill>
              <a:schemeClr val="accent5">
                <a:lumMod val="20000"/>
                <a:lumOff val="80000"/>
              </a:schemeClr>
            </a:solidFill>
            <a:ln>
              <a:solidFill>
                <a:schemeClr val="tx1"/>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4878AC3F-635E-AFDB-4E04-9E8404E745D0}"/>
                </a:ext>
              </a:extLst>
            </p:cNvPr>
            <p:cNvSpPr/>
            <p:nvPr/>
          </p:nvSpPr>
          <p:spPr>
            <a:xfrm>
              <a:off x="1738934" y="664841"/>
              <a:ext cx="3572690" cy="3862042"/>
            </a:xfrm>
            <a:prstGeom prst="rect">
              <a:avLst/>
            </a:prstGeom>
            <a:solidFill>
              <a:schemeClr val="accent6">
                <a:lumMod val="20000"/>
                <a:lumOff val="80000"/>
              </a:schemeClr>
            </a:solidFill>
            <a:ln>
              <a:solidFill>
                <a:schemeClr val="tx1"/>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9A831CD1-265D-B396-8F9E-4575E478FBB9}"/>
                </a:ext>
              </a:extLst>
            </p:cNvPr>
            <p:cNvSpPr/>
            <p:nvPr/>
          </p:nvSpPr>
          <p:spPr>
            <a:xfrm>
              <a:off x="306654" y="1992124"/>
              <a:ext cx="1299411" cy="749968"/>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Master_0     </a:t>
              </a:r>
            </a:p>
          </p:txBody>
        </p:sp>
        <p:sp>
          <p:nvSpPr>
            <p:cNvPr id="15" name="Rectangle 14">
              <a:extLst>
                <a:ext uri="{FF2B5EF4-FFF2-40B4-BE49-F238E27FC236}">
                  <a16:creationId xmlns:a16="http://schemas.microsoft.com/office/drawing/2014/main" id="{7329F819-8CC8-088A-EED6-AC35EFE9A1E1}"/>
                </a:ext>
              </a:extLst>
            </p:cNvPr>
            <p:cNvSpPr/>
            <p:nvPr/>
          </p:nvSpPr>
          <p:spPr>
            <a:xfrm>
              <a:off x="1862421" y="1436993"/>
              <a:ext cx="1299411" cy="29464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2000" dirty="0"/>
                <a:t> </a:t>
              </a:r>
              <a:r>
                <a:rPr lang="en-US" sz="2000" b="1" dirty="0"/>
                <a:t>Skid</a:t>
              </a:r>
            </a:p>
            <a:p>
              <a:r>
                <a:rPr lang="en-US" sz="2000" dirty="0"/>
                <a:t> </a:t>
              </a:r>
              <a:r>
                <a:rPr lang="en-US" sz="2000" b="1" dirty="0"/>
                <a:t>Buffer</a:t>
              </a:r>
              <a:r>
                <a:rPr lang="en-US" sz="2000" dirty="0"/>
                <a:t>      </a:t>
              </a:r>
            </a:p>
          </p:txBody>
        </p:sp>
        <p:sp>
          <p:nvSpPr>
            <p:cNvPr id="5" name="TextBox 4">
              <a:extLst>
                <a:ext uri="{FF2B5EF4-FFF2-40B4-BE49-F238E27FC236}">
                  <a16:creationId xmlns:a16="http://schemas.microsoft.com/office/drawing/2014/main" id="{CFA94949-E2F0-FE8E-D294-7BC0E8BA355F}"/>
                </a:ext>
              </a:extLst>
            </p:cNvPr>
            <p:cNvSpPr txBox="1"/>
            <p:nvPr/>
          </p:nvSpPr>
          <p:spPr>
            <a:xfrm>
              <a:off x="2522820" y="1526384"/>
              <a:ext cx="641684" cy="2831544"/>
            </a:xfrm>
            <a:prstGeom prst="rect">
              <a:avLst/>
            </a:prstGeom>
            <a:noFill/>
          </p:spPr>
          <p:txBody>
            <a:bodyPr wrap="square">
              <a:spAutoFit/>
            </a:bodyPr>
            <a:lstStyle/>
            <a:p>
              <a:pPr algn="r"/>
              <a:r>
                <a:rPr lang="en-US" sz="2000" dirty="0"/>
                <a:t>AR</a:t>
              </a:r>
            </a:p>
            <a:p>
              <a:pPr algn="r"/>
              <a:endParaRPr lang="en-US" sz="1400" dirty="0"/>
            </a:p>
            <a:p>
              <a:pPr algn="r"/>
              <a:r>
                <a:rPr lang="en-US" sz="2000" dirty="0"/>
                <a:t>AW</a:t>
              </a:r>
            </a:p>
            <a:p>
              <a:pPr algn="r"/>
              <a:endParaRPr lang="en-US" sz="2000" dirty="0"/>
            </a:p>
            <a:p>
              <a:pPr algn="r"/>
              <a:r>
                <a:rPr lang="en-US" sz="2000" dirty="0"/>
                <a:t>W</a:t>
              </a:r>
            </a:p>
            <a:p>
              <a:pPr algn="r"/>
              <a:endParaRPr lang="en-US" sz="2000" dirty="0"/>
            </a:p>
            <a:p>
              <a:pPr algn="r"/>
              <a:r>
                <a:rPr lang="en-US" sz="2000" dirty="0"/>
                <a:t>B</a:t>
              </a:r>
            </a:p>
            <a:p>
              <a:pPr algn="r"/>
              <a:endParaRPr lang="en-US" sz="2400" dirty="0"/>
            </a:p>
            <a:p>
              <a:pPr algn="r"/>
              <a:r>
                <a:rPr lang="en-US" sz="2000" dirty="0"/>
                <a:t>R</a:t>
              </a:r>
              <a:endParaRPr lang="en-US" dirty="0"/>
            </a:p>
          </p:txBody>
        </p:sp>
        <p:sp>
          <p:nvSpPr>
            <p:cNvPr id="22" name="Rectangle 21">
              <a:extLst>
                <a:ext uri="{FF2B5EF4-FFF2-40B4-BE49-F238E27FC236}">
                  <a16:creationId xmlns:a16="http://schemas.microsoft.com/office/drawing/2014/main" id="{DDA8BC5F-426B-FE86-ED94-8FAF9260380B}"/>
                </a:ext>
              </a:extLst>
            </p:cNvPr>
            <p:cNvSpPr/>
            <p:nvPr/>
          </p:nvSpPr>
          <p:spPr>
            <a:xfrm>
              <a:off x="379610" y="4684170"/>
              <a:ext cx="1299411" cy="602571"/>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Master_1     </a:t>
              </a:r>
            </a:p>
          </p:txBody>
        </p:sp>
        <p:sp>
          <p:nvSpPr>
            <p:cNvPr id="24" name="Rectangle 23">
              <a:extLst>
                <a:ext uri="{FF2B5EF4-FFF2-40B4-BE49-F238E27FC236}">
                  <a16:creationId xmlns:a16="http://schemas.microsoft.com/office/drawing/2014/main" id="{D155CFBF-1A4E-193D-FC55-697F4C2D240A}"/>
                </a:ext>
              </a:extLst>
            </p:cNvPr>
            <p:cNvSpPr/>
            <p:nvPr/>
          </p:nvSpPr>
          <p:spPr>
            <a:xfrm>
              <a:off x="365921" y="5399663"/>
              <a:ext cx="1299411" cy="562709"/>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Master_2     </a:t>
              </a:r>
            </a:p>
          </p:txBody>
        </p:sp>
        <p:sp>
          <p:nvSpPr>
            <p:cNvPr id="26" name="Rectangle 25">
              <a:extLst>
                <a:ext uri="{FF2B5EF4-FFF2-40B4-BE49-F238E27FC236}">
                  <a16:creationId xmlns:a16="http://schemas.microsoft.com/office/drawing/2014/main" id="{668F734B-B958-AC6D-DF31-FA124F1F1768}"/>
                </a:ext>
              </a:extLst>
            </p:cNvPr>
            <p:cNvSpPr/>
            <p:nvPr/>
          </p:nvSpPr>
          <p:spPr>
            <a:xfrm>
              <a:off x="3433874" y="1436993"/>
              <a:ext cx="1705817" cy="9799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Address </a:t>
              </a:r>
            </a:p>
            <a:p>
              <a:pPr algn="ctr"/>
              <a:r>
                <a:rPr lang="en-US" sz="2000" b="1" dirty="0"/>
                <a:t>Decoder </a:t>
              </a:r>
            </a:p>
          </p:txBody>
        </p:sp>
        <p:sp>
          <p:nvSpPr>
            <p:cNvPr id="32" name="Rectangle 31">
              <a:extLst>
                <a:ext uri="{FF2B5EF4-FFF2-40B4-BE49-F238E27FC236}">
                  <a16:creationId xmlns:a16="http://schemas.microsoft.com/office/drawing/2014/main" id="{597024BA-54B8-5857-A574-C4E041CEAFC8}"/>
                </a:ext>
              </a:extLst>
            </p:cNvPr>
            <p:cNvSpPr/>
            <p:nvPr/>
          </p:nvSpPr>
          <p:spPr>
            <a:xfrm>
              <a:off x="3433875" y="2590754"/>
              <a:ext cx="1705817"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W-</a:t>
              </a:r>
              <a:r>
                <a:rPr lang="en-US" sz="2000" b="1" dirty="0" err="1"/>
                <a:t>dest</a:t>
              </a:r>
              <a:r>
                <a:rPr lang="en-US" sz="2000" b="1" dirty="0"/>
                <a:t> FIFO   </a:t>
              </a:r>
            </a:p>
          </p:txBody>
        </p:sp>
        <p:sp>
          <p:nvSpPr>
            <p:cNvPr id="34" name="Rectangle 33">
              <a:extLst>
                <a:ext uri="{FF2B5EF4-FFF2-40B4-BE49-F238E27FC236}">
                  <a16:creationId xmlns:a16="http://schemas.microsoft.com/office/drawing/2014/main" id="{F24D7EEF-3E45-9E37-B0FB-3F57DBD999C2}"/>
                </a:ext>
              </a:extLst>
            </p:cNvPr>
            <p:cNvSpPr/>
            <p:nvPr/>
          </p:nvSpPr>
          <p:spPr>
            <a:xfrm>
              <a:off x="3433875" y="3239189"/>
              <a:ext cx="1705817"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B arbiter</a:t>
              </a:r>
            </a:p>
          </p:txBody>
        </p:sp>
        <p:sp>
          <p:nvSpPr>
            <p:cNvPr id="36" name="Rectangle 35">
              <a:extLst>
                <a:ext uri="{FF2B5EF4-FFF2-40B4-BE49-F238E27FC236}">
                  <a16:creationId xmlns:a16="http://schemas.microsoft.com/office/drawing/2014/main" id="{ACA08A17-6503-E756-478F-8C33938AAE21}"/>
                </a:ext>
              </a:extLst>
            </p:cNvPr>
            <p:cNvSpPr/>
            <p:nvPr/>
          </p:nvSpPr>
          <p:spPr>
            <a:xfrm>
              <a:off x="3433874" y="3887624"/>
              <a:ext cx="1705817"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R Arbiter</a:t>
              </a:r>
            </a:p>
          </p:txBody>
        </p:sp>
        <p:sp>
          <p:nvSpPr>
            <p:cNvPr id="40" name="Rectangle 39">
              <a:extLst>
                <a:ext uri="{FF2B5EF4-FFF2-40B4-BE49-F238E27FC236}">
                  <a16:creationId xmlns:a16="http://schemas.microsoft.com/office/drawing/2014/main" id="{96825F71-F754-2415-9718-508DE2807A99}"/>
                </a:ext>
              </a:extLst>
            </p:cNvPr>
            <p:cNvSpPr/>
            <p:nvPr/>
          </p:nvSpPr>
          <p:spPr>
            <a:xfrm>
              <a:off x="5784060" y="1436993"/>
              <a:ext cx="1466041" cy="9799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50" b="1" dirty="0"/>
                <a:t>ID Extension </a:t>
              </a:r>
            </a:p>
            <a:p>
              <a:pPr algn="ctr"/>
              <a:r>
                <a:rPr lang="en-US" sz="1750" b="1" dirty="0"/>
                <a:t>+ Scoreboard </a:t>
              </a:r>
            </a:p>
          </p:txBody>
        </p:sp>
        <p:sp>
          <p:nvSpPr>
            <p:cNvPr id="43" name="Rectangle 42">
              <a:extLst>
                <a:ext uri="{FF2B5EF4-FFF2-40B4-BE49-F238E27FC236}">
                  <a16:creationId xmlns:a16="http://schemas.microsoft.com/office/drawing/2014/main" id="{63FEFD63-2A70-4A82-CDA5-20A85221564F}"/>
                </a:ext>
              </a:extLst>
            </p:cNvPr>
            <p:cNvSpPr/>
            <p:nvPr/>
          </p:nvSpPr>
          <p:spPr>
            <a:xfrm>
              <a:off x="7977624" y="4054366"/>
              <a:ext cx="1365922" cy="4725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AR arbiter</a:t>
              </a:r>
            </a:p>
          </p:txBody>
        </p:sp>
        <p:sp>
          <p:nvSpPr>
            <p:cNvPr id="45" name="Rectangle 44">
              <a:extLst>
                <a:ext uri="{FF2B5EF4-FFF2-40B4-BE49-F238E27FC236}">
                  <a16:creationId xmlns:a16="http://schemas.microsoft.com/office/drawing/2014/main" id="{1D3DC673-2E02-528D-A1BF-033075C1F1E0}"/>
                </a:ext>
              </a:extLst>
            </p:cNvPr>
            <p:cNvSpPr/>
            <p:nvPr/>
          </p:nvSpPr>
          <p:spPr>
            <a:xfrm>
              <a:off x="7977624" y="882515"/>
              <a:ext cx="1401515"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AW arbiter</a:t>
              </a:r>
            </a:p>
          </p:txBody>
        </p:sp>
        <p:sp>
          <p:nvSpPr>
            <p:cNvPr id="47" name="Rectangle 46">
              <a:extLst>
                <a:ext uri="{FF2B5EF4-FFF2-40B4-BE49-F238E27FC236}">
                  <a16:creationId xmlns:a16="http://schemas.microsoft.com/office/drawing/2014/main" id="{8E80B69C-57BD-0A3F-1D3C-3C0B7D8B3328}"/>
                </a:ext>
              </a:extLst>
            </p:cNvPr>
            <p:cNvSpPr/>
            <p:nvPr/>
          </p:nvSpPr>
          <p:spPr>
            <a:xfrm>
              <a:off x="8443519" y="3412483"/>
              <a:ext cx="1299412"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AR queue</a:t>
              </a:r>
            </a:p>
          </p:txBody>
        </p:sp>
        <p:sp>
          <p:nvSpPr>
            <p:cNvPr id="49" name="Rectangle 48">
              <a:extLst>
                <a:ext uri="{FF2B5EF4-FFF2-40B4-BE49-F238E27FC236}">
                  <a16:creationId xmlns:a16="http://schemas.microsoft.com/office/drawing/2014/main" id="{6005855C-8EEB-2E8C-57C8-4CE63357C439}"/>
                </a:ext>
              </a:extLst>
            </p:cNvPr>
            <p:cNvSpPr/>
            <p:nvPr/>
          </p:nvSpPr>
          <p:spPr>
            <a:xfrm>
              <a:off x="8443519" y="1500671"/>
              <a:ext cx="1299412"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AW queue</a:t>
              </a:r>
            </a:p>
          </p:txBody>
        </p:sp>
        <p:sp>
          <p:nvSpPr>
            <p:cNvPr id="51" name="Rectangle 50">
              <a:extLst>
                <a:ext uri="{FF2B5EF4-FFF2-40B4-BE49-F238E27FC236}">
                  <a16:creationId xmlns:a16="http://schemas.microsoft.com/office/drawing/2014/main" id="{F7FA88C2-C2A0-A5CA-F7B3-07843D18327D}"/>
                </a:ext>
              </a:extLst>
            </p:cNvPr>
            <p:cNvSpPr/>
            <p:nvPr/>
          </p:nvSpPr>
          <p:spPr>
            <a:xfrm>
              <a:off x="8925172" y="2782929"/>
              <a:ext cx="1299412"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R engine</a:t>
              </a:r>
            </a:p>
          </p:txBody>
        </p:sp>
        <p:sp>
          <p:nvSpPr>
            <p:cNvPr id="53" name="Rectangle 52">
              <a:extLst>
                <a:ext uri="{FF2B5EF4-FFF2-40B4-BE49-F238E27FC236}">
                  <a16:creationId xmlns:a16="http://schemas.microsoft.com/office/drawing/2014/main" id="{95226E04-5DC1-D55C-7CE7-35554C3CCF45}"/>
                </a:ext>
              </a:extLst>
            </p:cNvPr>
            <p:cNvSpPr/>
            <p:nvPr/>
          </p:nvSpPr>
          <p:spPr>
            <a:xfrm>
              <a:off x="8925172" y="2141800"/>
              <a:ext cx="1267340" cy="474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W engine</a:t>
              </a:r>
            </a:p>
          </p:txBody>
        </p:sp>
        <p:sp>
          <p:nvSpPr>
            <p:cNvPr id="55" name="Rectangle 54">
              <a:extLst>
                <a:ext uri="{FF2B5EF4-FFF2-40B4-BE49-F238E27FC236}">
                  <a16:creationId xmlns:a16="http://schemas.microsoft.com/office/drawing/2014/main" id="{13027CCD-31ED-5A15-80F7-BE5554C5BE21}"/>
                </a:ext>
              </a:extLst>
            </p:cNvPr>
            <p:cNvSpPr/>
            <p:nvPr/>
          </p:nvSpPr>
          <p:spPr>
            <a:xfrm>
              <a:off x="10553010" y="1905801"/>
              <a:ext cx="1299411" cy="1532455"/>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Slave_0</a:t>
              </a:r>
            </a:p>
            <a:p>
              <a:pPr algn="ctr"/>
              <a:r>
                <a:rPr lang="en-US" sz="2000" b="1" dirty="0"/>
                <a:t>16 x 16 register array     </a:t>
              </a:r>
            </a:p>
          </p:txBody>
        </p:sp>
        <p:sp>
          <p:nvSpPr>
            <p:cNvPr id="66" name="Rectangle 65">
              <a:extLst>
                <a:ext uri="{FF2B5EF4-FFF2-40B4-BE49-F238E27FC236}">
                  <a16:creationId xmlns:a16="http://schemas.microsoft.com/office/drawing/2014/main" id="{E8BEAB6A-9EC4-6840-CB34-9E0E5AE5A092}"/>
                </a:ext>
              </a:extLst>
            </p:cNvPr>
            <p:cNvSpPr/>
            <p:nvPr/>
          </p:nvSpPr>
          <p:spPr>
            <a:xfrm>
              <a:off x="2328727" y="4702622"/>
              <a:ext cx="2610181" cy="560498"/>
            </a:xfrm>
            <a:prstGeom prst="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Master_1 Interface     </a:t>
              </a:r>
            </a:p>
          </p:txBody>
        </p:sp>
        <p:sp>
          <p:nvSpPr>
            <p:cNvPr id="68" name="Rectangle 67">
              <a:extLst>
                <a:ext uri="{FF2B5EF4-FFF2-40B4-BE49-F238E27FC236}">
                  <a16:creationId xmlns:a16="http://schemas.microsoft.com/office/drawing/2014/main" id="{DC818FBD-13CB-A2F7-CD9B-6B060D116085}"/>
                </a:ext>
              </a:extLst>
            </p:cNvPr>
            <p:cNvSpPr/>
            <p:nvPr/>
          </p:nvSpPr>
          <p:spPr>
            <a:xfrm>
              <a:off x="2335962" y="5399663"/>
              <a:ext cx="2610181" cy="562709"/>
            </a:xfrm>
            <a:prstGeom prst="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Master_2 Interface     </a:t>
              </a:r>
            </a:p>
          </p:txBody>
        </p:sp>
        <p:sp>
          <p:nvSpPr>
            <p:cNvPr id="70" name="Rectangle 69">
              <a:extLst>
                <a:ext uri="{FF2B5EF4-FFF2-40B4-BE49-F238E27FC236}">
                  <a16:creationId xmlns:a16="http://schemas.microsoft.com/office/drawing/2014/main" id="{E9F86984-A38A-B322-B9AF-AB3A0B501C8D}"/>
                </a:ext>
              </a:extLst>
            </p:cNvPr>
            <p:cNvSpPr/>
            <p:nvPr/>
          </p:nvSpPr>
          <p:spPr>
            <a:xfrm>
              <a:off x="10553011" y="4804220"/>
              <a:ext cx="1299411" cy="580731"/>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Slave_1     </a:t>
              </a:r>
            </a:p>
          </p:txBody>
        </p:sp>
        <p:sp>
          <p:nvSpPr>
            <p:cNvPr id="72" name="Rectangle 71">
              <a:extLst>
                <a:ext uri="{FF2B5EF4-FFF2-40B4-BE49-F238E27FC236}">
                  <a16:creationId xmlns:a16="http://schemas.microsoft.com/office/drawing/2014/main" id="{6B7EEF76-365E-34C4-8012-557274530A58}"/>
                </a:ext>
              </a:extLst>
            </p:cNvPr>
            <p:cNvSpPr/>
            <p:nvPr/>
          </p:nvSpPr>
          <p:spPr>
            <a:xfrm>
              <a:off x="10562895" y="5506197"/>
              <a:ext cx="1299411" cy="580731"/>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Slave_2     </a:t>
              </a:r>
            </a:p>
          </p:txBody>
        </p:sp>
        <p:sp>
          <p:nvSpPr>
            <p:cNvPr id="74" name="Rectangle 73">
              <a:extLst>
                <a:ext uri="{FF2B5EF4-FFF2-40B4-BE49-F238E27FC236}">
                  <a16:creationId xmlns:a16="http://schemas.microsoft.com/office/drawing/2014/main" id="{E9F5E4F8-9809-69F1-9441-EDD57F19B2DE}"/>
                </a:ext>
              </a:extLst>
            </p:cNvPr>
            <p:cNvSpPr/>
            <p:nvPr/>
          </p:nvSpPr>
          <p:spPr>
            <a:xfrm>
              <a:off x="8085900" y="4804220"/>
              <a:ext cx="2142781" cy="580731"/>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Slave_1 Interface     </a:t>
              </a:r>
            </a:p>
          </p:txBody>
        </p:sp>
        <p:sp>
          <p:nvSpPr>
            <p:cNvPr id="76" name="Rectangle 75">
              <a:extLst>
                <a:ext uri="{FF2B5EF4-FFF2-40B4-BE49-F238E27FC236}">
                  <a16:creationId xmlns:a16="http://schemas.microsoft.com/office/drawing/2014/main" id="{5C2B5FAB-7BBD-A4DE-F908-62D5C7462B7C}"/>
                </a:ext>
              </a:extLst>
            </p:cNvPr>
            <p:cNvSpPr/>
            <p:nvPr/>
          </p:nvSpPr>
          <p:spPr>
            <a:xfrm>
              <a:off x="8085900" y="5510776"/>
              <a:ext cx="2142781" cy="578805"/>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Slave_2 Interface     </a:t>
              </a:r>
            </a:p>
          </p:txBody>
        </p:sp>
        <p:sp>
          <p:nvSpPr>
            <p:cNvPr id="83" name="TextBox 82">
              <a:extLst>
                <a:ext uri="{FF2B5EF4-FFF2-40B4-BE49-F238E27FC236}">
                  <a16:creationId xmlns:a16="http://schemas.microsoft.com/office/drawing/2014/main" id="{AEBFD008-19A7-E0A9-F5B1-18F4DEC46379}"/>
                </a:ext>
              </a:extLst>
            </p:cNvPr>
            <p:cNvSpPr txBox="1"/>
            <p:nvPr/>
          </p:nvSpPr>
          <p:spPr>
            <a:xfrm>
              <a:off x="2477401" y="847204"/>
              <a:ext cx="2367513" cy="400110"/>
            </a:xfrm>
            <a:prstGeom prst="rect">
              <a:avLst/>
            </a:prstGeom>
            <a:noFill/>
          </p:spPr>
          <p:txBody>
            <a:bodyPr wrap="square">
              <a:spAutoFit/>
            </a:bodyPr>
            <a:lstStyle/>
            <a:p>
              <a:r>
                <a:rPr lang="en-US" sz="2000" b="1" dirty="0"/>
                <a:t>Master_0 Interface</a:t>
              </a:r>
              <a:endParaRPr lang="en-US" dirty="0"/>
            </a:p>
          </p:txBody>
        </p:sp>
        <p:sp>
          <p:nvSpPr>
            <p:cNvPr id="85" name="TextBox 84">
              <a:extLst>
                <a:ext uri="{FF2B5EF4-FFF2-40B4-BE49-F238E27FC236}">
                  <a16:creationId xmlns:a16="http://schemas.microsoft.com/office/drawing/2014/main" id="{364959B8-95E8-C182-948D-C79973FDE1CD}"/>
                </a:ext>
              </a:extLst>
            </p:cNvPr>
            <p:cNvSpPr txBox="1"/>
            <p:nvPr/>
          </p:nvSpPr>
          <p:spPr>
            <a:xfrm>
              <a:off x="5663566" y="767385"/>
              <a:ext cx="1838685" cy="646331"/>
            </a:xfrm>
            <a:prstGeom prst="rect">
              <a:avLst/>
            </a:prstGeom>
            <a:noFill/>
          </p:spPr>
          <p:txBody>
            <a:bodyPr wrap="square">
              <a:spAutoFit/>
            </a:bodyPr>
            <a:lstStyle/>
            <a:p>
              <a:pPr algn="ctr"/>
              <a:r>
                <a:rPr lang="en-US" b="1" dirty="0"/>
                <a:t>Common </a:t>
              </a:r>
            </a:p>
            <a:p>
              <a:pPr algn="ctr"/>
              <a:r>
                <a:rPr lang="en-US" b="1" dirty="0"/>
                <a:t>Fabric</a:t>
              </a:r>
              <a:endParaRPr lang="en-US" sz="1600" dirty="0"/>
            </a:p>
          </p:txBody>
        </p:sp>
        <p:sp>
          <p:nvSpPr>
            <p:cNvPr id="87" name="TextBox 86">
              <a:extLst>
                <a:ext uri="{FF2B5EF4-FFF2-40B4-BE49-F238E27FC236}">
                  <a16:creationId xmlns:a16="http://schemas.microsoft.com/office/drawing/2014/main" id="{67CA0C14-4106-EB58-6DD0-DA906D75C2F1}"/>
                </a:ext>
              </a:extLst>
            </p:cNvPr>
            <p:cNvSpPr txBox="1"/>
            <p:nvPr/>
          </p:nvSpPr>
          <p:spPr>
            <a:xfrm>
              <a:off x="9379139" y="771065"/>
              <a:ext cx="2367513" cy="646331"/>
            </a:xfrm>
            <a:prstGeom prst="rect">
              <a:avLst/>
            </a:prstGeom>
            <a:noFill/>
          </p:spPr>
          <p:txBody>
            <a:bodyPr wrap="square">
              <a:spAutoFit/>
            </a:bodyPr>
            <a:lstStyle/>
            <a:p>
              <a:r>
                <a:rPr lang="en-US" b="1" dirty="0"/>
                <a:t>Slave_0 </a:t>
              </a:r>
            </a:p>
            <a:p>
              <a:r>
                <a:rPr lang="en-US" b="1" dirty="0"/>
                <a:t>Interface</a:t>
              </a:r>
              <a:endParaRPr lang="en-US" sz="1600" dirty="0"/>
            </a:p>
          </p:txBody>
        </p:sp>
        <p:cxnSp>
          <p:nvCxnSpPr>
            <p:cNvPr id="109" name="Straight Arrow Connector 108">
              <a:extLst>
                <a:ext uri="{FF2B5EF4-FFF2-40B4-BE49-F238E27FC236}">
                  <a16:creationId xmlns:a16="http://schemas.microsoft.com/office/drawing/2014/main" id="{A666E36D-1C40-BA38-D544-9246BFC5D477}"/>
                </a:ext>
              </a:extLst>
            </p:cNvPr>
            <p:cNvCxnSpPr>
              <a:cxnSpLocks/>
            </p:cNvCxnSpPr>
            <p:nvPr/>
          </p:nvCxnSpPr>
          <p:spPr>
            <a:xfrm>
              <a:off x="9343546" y="1975251"/>
              <a:ext cx="0" cy="16654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4F9B257-0431-6CC6-1924-F4B5391CACA3}"/>
                </a:ext>
              </a:extLst>
            </p:cNvPr>
            <p:cNvCxnSpPr>
              <a:cxnSpLocks/>
            </p:cNvCxnSpPr>
            <p:nvPr/>
          </p:nvCxnSpPr>
          <p:spPr>
            <a:xfrm>
              <a:off x="8886613" y="1347224"/>
              <a:ext cx="0" cy="16654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12D3768B-F09D-F645-692C-FFF4235D2484}"/>
                </a:ext>
              </a:extLst>
            </p:cNvPr>
            <p:cNvCxnSpPr>
              <a:cxnSpLocks/>
            </p:cNvCxnSpPr>
            <p:nvPr/>
          </p:nvCxnSpPr>
          <p:spPr>
            <a:xfrm flipV="1">
              <a:off x="8890423" y="3880874"/>
              <a:ext cx="0" cy="16654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CCAC1FDD-9E9A-2C34-B04C-FDD4FD789383}"/>
                </a:ext>
              </a:extLst>
            </p:cNvPr>
            <p:cNvCxnSpPr>
              <a:cxnSpLocks/>
            </p:cNvCxnSpPr>
            <p:nvPr/>
          </p:nvCxnSpPr>
          <p:spPr>
            <a:xfrm flipV="1">
              <a:off x="9336193" y="3252224"/>
              <a:ext cx="0" cy="16654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2EF0AB79-B67E-DF60-F5BC-0EE44BC3049D}"/>
                </a:ext>
              </a:extLst>
            </p:cNvPr>
            <p:cNvCxnSpPr>
              <a:cxnSpLocks/>
              <a:stCxn id="53" idx="3"/>
            </p:cNvCxnSpPr>
            <p:nvPr/>
          </p:nvCxnSpPr>
          <p:spPr>
            <a:xfrm>
              <a:off x="10192512" y="2379090"/>
              <a:ext cx="36049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25F5E9C3-28F5-8E7E-1D09-288C5B5F3CB2}"/>
                </a:ext>
              </a:extLst>
            </p:cNvPr>
            <p:cNvCxnSpPr>
              <a:cxnSpLocks/>
              <a:stCxn id="51" idx="3"/>
            </p:cNvCxnSpPr>
            <p:nvPr/>
          </p:nvCxnSpPr>
          <p:spPr>
            <a:xfrm flipV="1">
              <a:off x="10224584" y="3020218"/>
              <a:ext cx="319961" cy="1"/>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B3305F0A-DB1A-1C84-4D42-06FC38E84B6F}"/>
                </a:ext>
              </a:extLst>
            </p:cNvPr>
            <p:cNvCxnSpPr>
              <a:cxnSpLocks/>
              <a:stCxn id="74" idx="3"/>
              <a:endCxn id="70" idx="1"/>
            </p:cNvCxnSpPr>
            <p:nvPr/>
          </p:nvCxnSpPr>
          <p:spPr>
            <a:xfrm>
              <a:off x="10228681" y="5094586"/>
              <a:ext cx="324330"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83075D7A-AE6B-3D98-D749-FF4694FF6F97}"/>
                </a:ext>
              </a:extLst>
            </p:cNvPr>
            <p:cNvCxnSpPr>
              <a:cxnSpLocks/>
            </p:cNvCxnSpPr>
            <p:nvPr/>
          </p:nvCxnSpPr>
          <p:spPr>
            <a:xfrm>
              <a:off x="10220215" y="5770175"/>
              <a:ext cx="324330"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8D15381-4BB6-69DF-ED41-33235AC17069}"/>
                </a:ext>
              </a:extLst>
            </p:cNvPr>
            <p:cNvCxnSpPr>
              <a:cxnSpLocks/>
              <a:stCxn id="22" idx="3"/>
              <a:endCxn id="66" idx="1"/>
            </p:cNvCxnSpPr>
            <p:nvPr/>
          </p:nvCxnSpPr>
          <p:spPr>
            <a:xfrm flipV="1">
              <a:off x="1679021" y="4982871"/>
              <a:ext cx="649706" cy="2585"/>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58DDB338-53EA-F2DF-6584-904DB3342F01}"/>
                </a:ext>
              </a:extLst>
            </p:cNvPr>
            <p:cNvCxnSpPr>
              <a:cxnSpLocks/>
            </p:cNvCxnSpPr>
            <p:nvPr/>
          </p:nvCxnSpPr>
          <p:spPr>
            <a:xfrm>
              <a:off x="1665332" y="5681018"/>
              <a:ext cx="663395"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AB1B85A-BA53-557D-956E-339C7ED5D394}"/>
                </a:ext>
              </a:extLst>
            </p:cNvPr>
            <p:cNvCxnSpPr>
              <a:cxnSpLocks/>
            </p:cNvCxnSpPr>
            <p:nvPr/>
          </p:nvCxnSpPr>
          <p:spPr>
            <a:xfrm>
              <a:off x="7568686" y="4978036"/>
              <a:ext cx="517214"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038FCE40-8837-19EA-A3D6-C78AD4268A2B}"/>
                </a:ext>
              </a:extLst>
            </p:cNvPr>
            <p:cNvCxnSpPr>
              <a:cxnSpLocks/>
            </p:cNvCxnSpPr>
            <p:nvPr/>
          </p:nvCxnSpPr>
          <p:spPr>
            <a:xfrm>
              <a:off x="7568686" y="5673605"/>
              <a:ext cx="517214"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BBF43AF1-0545-E462-8A82-E65624DA1BA2}"/>
                </a:ext>
              </a:extLst>
            </p:cNvPr>
            <p:cNvCxnSpPr>
              <a:cxnSpLocks/>
              <a:stCxn id="3" idx="3"/>
            </p:cNvCxnSpPr>
            <p:nvPr/>
          </p:nvCxnSpPr>
          <p:spPr>
            <a:xfrm>
              <a:off x="1606065" y="2367108"/>
              <a:ext cx="252942"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AB315898-40A7-2C8C-0496-5C230D084F67}"/>
                </a:ext>
              </a:extLst>
            </p:cNvPr>
            <p:cNvCxnSpPr>
              <a:cxnSpLocks/>
              <a:stCxn id="26" idx="3"/>
              <a:endCxn id="40" idx="1"/>
            </p:cNvCxnSpPr>
            <p:nvPr/>
          </p:nvCxnSpPr>
          <p:spPr>
            <a:xfrm>
              <a:off x="5139691" y="1926946"/>
              <a:ext cx="644369" cy="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CFC7A9A3-FF45-D361-EC78-C747C8D1799D}"/>
                </a:ext>
              </a:extLst>
            </p:cNvPr>
            <p:cNvCxnSpPr>
              <a:cxnSpLocks/>
            </p:cNvCxnSpPr>
            <p:nvPr/>
          </p:nvCxnSpPr>
          <p:spPr>
            <a:xfrm flipH="1">
              <a:off x="5139691" y="3449040"/>
              <a:ext cx="459398" cy="1"/>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8F6BB340-5C5F-1483-A1CE-5EF18F6152E9}"/>
                </a:ext>
              </a:extLst>
            </p:cNvPr>
            <p:cNvCxnSpPr>
              <a:cxnSpLocks/>
            </p:cNvCxnSpPr>
            <p:nvPr/>
          </p:nvCxnSpPr>
          <p:spPr>
            <a:xfrm flipH="1">
              <a:off x="5129531" y="4092550"/>
              <a:ext cx="469558" cy="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77B9A37B-1137-AC06-783F-F09F2EC1F113}"/>
                </a:ext>
              </a:extLst>
            </p:cNvPr>
            <p:cNvCxnSpPr>
              <a:cxnSpLocks/>
              <a:stCxn id="26" idx="2"/>
              <a:endCxn id="32" idx="0"/>
            </p:cNvCxnSpPr>
            <p:nvPr/>
          </p:nvCxnSpPr>
          <p:spPr>
            <a:xfrm>
              <a:off x="4286783" y="2416899"/>
              <a:ext cx="1" cy="17385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B9E78EAE-6554-A0B6-30DC-3DA8E6F687F0}"/>
                </a:ext>
              </a:extLst>
            </p:cNvPr>
            <p:cNvCxnSpPr>
              <a:cxnSpLocks/>
            </p:cNvCxnSpPr>
            <p:nvPr/>
          </p:nvCxnSpPr>
          <p:spPr>
            <a:xfrm>
              <a:off x="3161832" y="1723208"/>
              <a:ext cx="272042"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63112E70-0B10-BE47-9CBD-91100894AFF6}"/>
                </a:ext>
              </a:extLst>
            </p:cNvPr>
            <p:cNvCxnSpPr>
              <a:cxnSpLocks/>
            </p:cNvCxnSpPr>
            <p:nvPr/>
          </p:nvCxnSpPr>
          <p:spPr>
            <a:xfrm>
              <a:off x="3161832" y="2232901"/>
              <a:ext cx="272042"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C4F495BD-AC4A-CAFB-BEAC-32F9BBF8DD25}"/>
                </a:ext>
              </a:extLst>
            </p:cNvPr>
            <p:cNvCxnSpPr>
              <a:cxnSpLocks/>
            </p:cNvCxnSpPr>
            <p:nvPr/>
          </p:nvCxnSpPr>
          <p:spPr>
            <a:xfrm>
              <a:off x="3161832" y="2845888"/>
              <a:ext cx="272042"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97CE16BB-81B2-312F-64DF-209CD017F611}"/>
                </a:ext>
              </a:extLst>
            </p:cNvPr>
            <p:cNvCxnSpPr>
              <a:cxnSpLocks/>
            </p:cNvCxnSpPr>
            <p:nvPr/>
          </p:nvCxnSpPr>
          <p:spPr>
            <a:xfrm>
              <a:off x="3161832" y="3491048"/>
              <a:ext cx="272042"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380B2F02-813B-827C-BA31-6CB708DEC479}"/>
                </a:ext>
              </a:extLst>
            </p:cNvPr>
            <p:cNvCxnSpPr>
              <a:cxnSpLocks/>
            </p:cNvCxnSpPr>
            <p:nvPr/>
          </p:nvCxnSpPr>
          <p:spPr>
            <a:xfrm>
              <a:off x="3161832" y="4131128"/>
              <a:ext cx="272042"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D3100FA6-862A-3DC4-66E7-016AF5F48795}"/>
                </a:ext>
              </a:extLst>
            </p:cNvPr>
            <p:cNvCxnSpPr>
              <a:cxnSpLocks/>
            </p:cNvCxnSpPr>
            <p:nvPr/>
          </p:nvCxnSpPr>
          <p:spPr>
            <a:xfrm flipH="1">
              <a:off x="7568686" y="3109133"/>
              <a:ext cx="1356486" cy="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Connector: Elbow 234">
              <a:extLst>
                <a:ext uri="{FF2B5EF4-FFF2-40B4-BE49-F238E27FC236}">
                  <a16:creationId xmlns:a16="http://schemas.microsoft.com/office/drawing/2014/main" id="{221EC57C-8667-C810-20CC-9DA18357C716}"/>
                </a:ext>
              </a:extLst>
            </p:cNvPr>
            <p:cNvCxnSpPr>
              <a:cxnSpLocks/>
              <a:stCxn id="257" idx="2"/>
              <a:endCxn id="334" idx="3"/>
            </p:cNvCxnSpPr>
            <p:nvPr/>
          </p:nvCxnSpPr>
          <p:spPr>
            <a:xfrm rot="10800000" flipV="1">
              <a:off x="7287545" y="1736396"/>
              <a:ext cx="448301" cy="1275170"/>
            </a:xfrm>
            <a:prstGeom prst="bentConnector3">
              <a:avLst>
                <a:gd name="adj1" fmla="val 81446"/>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3" name="Connector: Elbow 252">
              <a:extLst>
                <a:ext uri="{FF2B5EF4-FFF2-40B4-BE49-F238E27FC236}">
                  <a16:creationId xmlns:a16="http://schemas.microsoft.com/office/drawing/2014/main" id="{D8507701-591B-4B55-7410-3CE502C5F245}"/>
                </a:ext>
              </a:extLst>
            </p:cNvPr>
            <p:cNvCxnSpPr>
              <a:cxnSpLocks/>
              <a:stCxn id="257" idx="0"/>
              <a:endCxn id="45" idx="1"/>
            </p:cNvCxnSpPr>
            <p:nvPr/>
          </p:nvCxnSpPr>
          <p:spPr>
            <a:xfrm rot="5400000" flipH="1" flipV="1">
              <a:off x="7583157" y="1306783"/>
              <a:ext cx="581444" cy="2074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4" name="Connector: Elbow 253">
              <a:extLst>
                <a:ext uri="{FF2B5EF4-FFF2-40B4-BE49-F238E27FC236}">
                  <a16:creationId xmlns:a16="http://schemas.microsoft.com/office/drawing/2014/main" id="{C0409524-3C63-49CF-76C5-433A260A4FD8}"/>
                </a:ext>
              </a:extLst>
            </p:cNvPr>
            <p:cNvCxnSpPr>
              <a:cxnSpLocks/>
              <a:stCxn id="257" idx="4"/>
              <a:endCxn id="43" idx="1"/>
            </p:cNvCxnSpPr>
            <p:nvPr/>
          </p:nvCxnSpPr>
          <p:spPr>
            <a:xfrm rot="16200000" flipH="1">
              <a:off x="6614338" y="2927339"/>
              <a:ext cx="2519082" cy="2074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57" name="Oval 256">
              <a:extLst>
                <a:ext uri="{FF2B5EF4-FFF2-40B4-BE49-F238E27FC236}">
                  <a16:creationId xmlns:a16="http://schemas.microsoft.com/office/drawing/2014/main" id="{4C391D05-091A-9E9B-0738-75819F4F9085}"/>
                </a:ext>
              </a:extLst>
            </p:cNvPr>
            <p:cNvSpPr/>
            <p:nvPr/>
          </p:nvSpPr>
          <p:spPr>
            <a:xfrm>
              <a:off x="7735845" y="1701249"/>
              <a:ext cx="68580" cy="7029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5AA0BE35-144D-C3B7-0401-35C3F580CDB2}"/>
                </a:ext>
              </a:extLst>
            </p:cNvPr>
            <p:cNvSpPr/>
            <p:nvPr/>
          </p:nvSpPr>
          <p:spPr>
            <a:xfrm>
              <a:off x="5403504" y="4946418"/>
              <a:ext cx="68580" cy="70294"/>
            </a:xfrm>
            <a:prstGeom prst="ellips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860EE972-6E34-2120-1344-128CD6D3666E}"/>
                </a:ext>
              </a:extLst>
            </p:cNvPr>
            <p:cNvSpPr/>
            <p:nvPr/>
          </p:nvSpPr>
          <p:spPr>
            <a:xfrm>
              <a:off x="5396792" y="1900216"/>
              <a:ext cx="68580" cy="70294"/>
            </a:xfrm>
            <a:prstGeom prst="ellips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9" name="Straight Connector 308">
              <a:extLst>
                <a:ext uri="{FF2B5EF4-FFF2-40B4-BE49-F238E27FC236}">
                  <a16:creationId xmlns:a16="http://schemas.microsoft.com/office/drawing/2014/main" id="{5BCEF554-027C-A1EF-0980-BB114B2486B3}"/>
                </a:ext>
              </a:extLst>
            </p:cNvPr>
            <p:cNvCxnSpPr>
              <a:cxnSpLocks/>
              <a:stCxn id="315" idx="4"/>
              <a:endCxn id="313" idx="0"/>
            </p:cNvCxnSpPr>
            <p:nvPr/>
          </p:nvCxnSpPr>
          <p:spPr>
            <a:xfrm>
              <a:off x="7767159" y="4324619"/>
              <a:ext cx="2877" cy="1514013"/>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311" name="Oval 310">
              <a:extLst>
                <a:ext uri="{FF2B5EF4-FFF2-40B4-BE49-F238E27FC236}">
                  <a16:creationId xmlns:a16="http://schemas.microsoft.com/office/drawing/2014/main" id="{21DD71A8-C39F-1701-F7F8-55D3F64DF8B6}"/>
                </a:ext>
              </a:extLst>
            </p:cNvPr>
            <p:cNvSpPr/>
            <p:nvPr/>
          </p:nvSpPr>
          <p:spPr>
            <a:xfrm>
              <a:off x="7732791" y="5216447"/>
              <a:ext cx="68580" cy="70294"/>
            </a:xfrm>
            <a:prstGeom prst="ellips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26D1EC57-5AB5-88C5-56DB-41B1D567E723}"/>
                </a:ext>
              </a:extLst>
            </p:cNvPr>
            <p:cNvSpPr/>
            <p:nvPr/>
          </p:nvSpPr>
          <p:spPr>
            <a:xfrm>
              <a:off x="7735746" y="5838632"/>
              <a:ext cx="68580" cy="70294"/>
            </a:xfrm>
            <a:prstGeom prst="ellips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ECB67F14-15D1-5081-C260-5C55FE12B67F}"/>
                </a:ext>
              </a:extLst>
            </p:cNvPr>
            <p:cNvSpPr/>
            <p:nvPr/>
          </p:nvSpPr>
          <p:spPr>
            <a:xfrm>
              <a:off x="7732869" y="4254325"/>
              <a:ext cx="68580" cy="70294"/>
            </a:xfrm>
            <a:prstGeom prst="ellipse">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59B07867-29F3-5BDB-00DC-BAECFD6930B2}"/>
                </a:ext>
              </a:extLst>
            </p:cNvPr>
            <p:cNvSpPr/>
            <p:nvPr/>
          </p:nvSpPr>
          <p:spPr>
            <a:xfrm>
              <a:off x="5807778" y="2666961"/>
              <a:ext cx="1479766" cy="6892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Valid </a:t>
              </a:r>
              <a:r>
                <a:rPr lang="en-US" b="1" dirty="0" err="1"/>
                <a:t>Txn</a:t>
              </a:r>
              <a:r>
                <a:rPr lang="en-US" sz="1700" b="1" dirty="0"/>
                <a:t> Request Array</a:t>
              </a:r>
            </a:p>
          </p:txBody>
        </p:sp>
        <p:cxnSp>
          <p:nvCxnSpPr>
            <p:cNvPr id="348" name="Straight Arrow Connector 347">
              <a:extLst>
                <a:ext uri="{FF2B5EF4-FFF2-40B4-BE49-F238E27FC236}">
                  <a16:creationId xmlns:a16="http://schemas.microsoft.com/office/drawing/2014/main" id="{CA034F8F-2FF4-ED6E-43E6-36E124FAE48B}"/>
                </a:ext>
              </a:extLst>
            </p:cNvPr>
            <p:cNvCxnSpPr>
              <a:cxnSpLocks/>
            </p:cNvCxnSpPr>
            <p:nvPr/>
          </p:nvCxnSpPr>
          <p:spPr>
            <a:xfrm>
              <a:off x="4938907" y="4871018"/>
              <a:ext cx="642087"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A574F25F-466F-F4FE-855E-AB29EED2A2E3}"/>
                </a:ext>
              </a:extLst>
            </p:cNvPr>
            <p:cNvCxnSpPr>
              <a:cxnSpLocks/>
            </p:cNvCxnSpPr>
            <p:nvPr/>
          </p:nvCxnSpPr>
          <p:spPr>
            <a:xfrm>
              <a:off x="4938906" y="5569376"/>
              <a:ext cx="64208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8" name="Straight Arrow Connector 357">
              <a:extLst>
                <a:ext uri="{FF2B5EF4-FFF2-40B4-BE49-F238E27FC236}">
                  <a16:creationId xmlns:a16="http://schemas.microsoft.com/office/drawing/2014/main" id="{5E6B1269-286D-E226-2745-6831FBBBA561}"/>
                </a:ext>
              </a:extLst>
            </p:cNvPr>
            <p:cNvCxnSpPr>
              <a:cxnSpLocks/>
              <a:stCxn id="311" idx="2"/>
            </p:cNvCxnSpPr>
            <p:nvPr/>
          </p:nvCxnSpPr>
          <p:spPr>
            <a:xfrm>
              <a:off x="7732791" y="5251594"/>
              <a:ext cx="342504" cy="0"/>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D39A022B-CA2C-4577-D7C9-B186A1CC9C68}"/>
                </a:ext>
              </a:extLst>
            </p:cNvPr>
            <p:cNvCxnSpPr>
              <a:cxnSpLocks/>
            </p:cNvCxnSpPr>
            <p:nvPr/>
          </p:nvCxnSpPr>
          <p:spPr>
            <a:xfrm>
              <a:off x="7743396" y="5876434"/>
              <a:ext cx="342504" cy="0"/>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cxnSp>
          <p:nvCxnSpPr>
            <p:cNvPr id="378" name="Straight Arrow Connector 377">
              <a:extLst>
                <a:ext uri="{FF2B5EF4-FFF2-40B4-BE49-F238E27FC236}">
                  <a16:creationId xmlns:a16="http://schemas.microsoft.com/office/drawing/2014/main" id="{4FDC7A7A-78B9-E2A0-283A-0E66BC7D49A1}"/>
                </a:ext>
              </a:extLst>
            </p:cNvPr>
            <p:cNvCxnSpPr>
              <a:cxnSpLocks/>
              <a:endCxn id="53" idx="1"/>
            </p:cNvCxnSpPr>
            <p:nvPr/>
          </p:nvCxnSpPr>
          <p:spPr>
            <a:xfrm>
              <a:off x="7568686" y="2379090"/>
              <a:ext cx="135648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0" name="Straight Arrow Connector 379">
              <a:extLst>
                <a:ext uri="{FF2B5EF4-FFF2-40B4-BE49-F238E27FC236}">
                  <a16:creationId xmlns:a16="http://schemas.microsoft.com/office/drawing/2014/main" id="{18070025-DC11-3335-10BD-678E862CD142}"/>
                </a:ext>
              </a:extLst>
            </p:cNvPr>
            <p:cNvCxnSpPr>
              <a:cxnSpLocks/>
              <a:stCxn id="40" idx="2"/>
            </p:cNvCxnSpPr>
            <p:nvPr/>
          </p:nvCxnSpPr>
          <p:spPr>
            <a:xfrm flipH="1">
              <a:off x="6517080" y="2416899"/>
              <a:ext cx="1" cy="245795"/>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6" name="Rectangle 385">
              <a:extLst>
                <a:ext uri="{FF2B5EF4-FFF2-40B4-BE49-F238E27FC236}">
                  <a16:creationId xmlns:a16="http://schemas.microsoft.com/office/drawing/2014/main" id="{ECA88308-5AF9-039F-706D-D7F86A17A59E}"/>
                </a:ext>
              </a:extLst>
            </p:cNvPr>
            <p:cNvSpPr/>
            <p:nvPr/>
          </p:nvSpPr>
          <p:spPr>
            <a:xfrm>
              <a:off x="5807778" y="3683430"/>
              <a:ext cx="1479766" cy="9771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50" b="1" dirty="0"/>
                <a:t>W Interlock</a:t>
              </a:r>
            </a:p>
            <a:p>
              <a:pPr algn="ctr"/>
              <a:r>
                <a:rPr lang="en-US" sz="1100" dirty="0"/>
                <a:t>(matches destination and source since W channel has no WID)</a:t>
              </a:r>
            </a:p>
          </p:txBody>
        </p:sp>
        <p:cxnSp>
          <p:nvCxnSpPr>
            <p:cNvPr id="387" name="Straight Arrow Connector 386">
              <a:extLst>
                <a:ext uri="{FF2B5EF4-FFF2-40B4-BE49-F238E27FC236}">
                  <a16:creationId xmlns:a16="http://schemas.microsoft.com/office/drawing/2014/main" id="{D85523F6-7D58-C829-BC9D-948FEEBEEDCD}"/>
                </a:ext>
              </a:extLst>
            </p:cNvPr>
            <p:cNvCxnSpPr>
              <a:cxnSpLocks/>
            </p:cNvCxnSpPr>
            <p:nvPr/>
          </p:nvCxnSpPr>
          <p:spPr>
            <a:xfrm flipV="1">
              <a:off x="6517181" y="3356170"/>
              <a:ext cx="0" cy="327260"/>
            </a:xfrm>
            <a:prstGeom prst="straightConnector1">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5E4A695E-8641-A400-6CAF-5D6BF1E063DC}"/>
                </a:ext>
              </a:extLst>
            </p:cNvPr>
            <p:cNvCxnSpPr>
              <a:cxnSpLocks/>
            </p:cNvCxnSpPr>
            <p:nvPr/>
          </p:nvCxnSpPr>
          <p:spPr>
            <a:xfrm>
              <a:off x="5133650" y="2867470"/>
              <a:ext cx="679318" cy="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746F896-50E8-C9F0-5983-54D4C2350902}"/>
                </a:ext>
              </a:extLst>
            </p:cNvPr>
            <p:cNvCxnSpPr>
              <a:cxnSpLocks/>
              <a:stCxn id="49" idx="1"/>
              <a:endCxn id="257" idx="6"/>
            </p:cNvCxnSpPr>
            <p:nvPr/>
          </p:nvCxnSpPr>
          <p:spPr>
            <a:xfrm flipH="1" flipV="1">
              <a:off x="7804425" y="1736396"/>
              <a:ext cx="639094" cy="1565"/>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4712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9FE9EF-4BCF-D36F-D2C0-E284A725EF8A}"/>
              </a:ext>
            </a:extLst>
          </p:cNvPr>
          <p:cNvSpPr txBox="1"/>
          <p:nvPr/>
        </p:nvSpPr>
        <p:spPr>
          <a:xfrm>
            <a:off x="199664" y="335845"/>
            <a:ext cx="6094070" cy="5632311"/>
          </a:xfrm>
          <a:prstGeom prst="rect">
            <a:avLst/>
          </a:prstGeom>
          <a:noFill/>
        </p:spPr>
        <p:txBody>
          <a:bodyPr wrap="square">
            <a:spAutoFit/>
          </a:bodyPr>
          <a:lstStyle/>
          <a:p>
            <a:r>
              <a:rPr lang="en-US" b="1" dirty="0"/>
              <a:t>Main dataflow</a:t>
            </a:r>
          </a:p>
          <a:p>
            <a:endParaRPr lang="en-US" dirty="0"/>
          </a:p>
          <a:p>
            <a:r>
              <a:rPr lang="en-US" dirty="0"/>
              <a:t>Inputs:  each master m offers { valid, id, </a:t>
            </a:r>
            <a:r>
              <a:rPr lang="en-US" dirty="0" err="1"/>
              <a:t>addr</a:t>
            </a:r>
            <a:r>
              <a:rPr lang="en-US" dirty="0"/>
              <a:t>, </a:t>
            </a:r>
            <a:r>
              <a:rPr lang="en-US" dirty="0" err="1"/>
              <a:t>len</a:t>
            </a:r>
            <a:r>
              <a:rPr lang="en-US" dirty="0"/>
              <a:t>, </a:t>
            </a:r>
            <a:r>
              <a:rPr lang="en-US" dirty="0" err="1"/>
              <a:t>qos</a:t>
            </a:r>
            <a:r>
              <a:rPr lang="en-US" dirty="0"/>
              <a:t> }</a:t>
            </a:r>
          </a:p>
          <a:p>
            <a:r>
              <a:rPr lang="en-US" dirty="0"/>
              <a:t>Output:  one winner drives the slave; </a:t>
            </a:r>
          </a:p>
          <a:p>
            <a:r>
              <a:rPr lang="en-US" dirty="0"/>
              <a:t>ready returns to winner only</a:t>
            </a:r>
          </a:p>
          <a:p>
            <a:endParaRPr lang="en-US" dirty="0"/>
          </a:p>
          <a:p>
            <a:r>
              <a:rPr lang="en-US" dirty="0"/>
              <a:t>1.  if a held winner exists (offer made last cycle, not yet accepted):</a:t>
            </a:r>
          </a:p>
          <a:p>
            <a:r>
              <a:rPr lang="en-US" dirty="0"/>
              <a:t>        keep that same winner  ← grant hold: payload can't change</a:t>
            </a:r>
          </a:p>
          <a:p>
            <a:r>
              <a:rPr lang="en-US" dirty="0"/>
              <a:t>    else:</a:t>
            </a:r>
          </a:p>
          <a:p>
            <a:r>
              <a:rPr lang="en-US" dirty="0"/>
              <a:t>        E = { masters that are requesting AND eligible }</a:t>
            </a:r>
          </a:p>
          <a:p>
            <a:r>
              <a:rPr lang="en-US" dirty="0"/>
              <a:t>        g = Pick(E)                  ← choose the winner</a:t>
            </a:r>
          </a:p>
          <a:p>
            <a:endParaRPr lang="en-US" dirty="0"/>
          </a:p>
          <a:p>
            <a:r>
              <a:rPr lang="en-US" dirty="0"/>
              <a:t>2.  drive winner g's payload to the slave</a:t>
            </a:r>
          </a:p>
          <a:p>
            <a:r>
              <a:rPr lang="en-US" dirty="0"/>
              <a:t>    send ready back to master g only</a:t>
            </a:r>
          </a:p>
          <a:p>
            <a:endParaRPr lang="en-US" dirty="0"/>
          </a:p>
          <a:p>
            <a:r>
              <a:rPr lang="en-US" dirty="0"/>
              <a:t>3.  on handshake (winner accepted):</a:t>
            </a:r>
          </a:p>
          <a:p>
            <a:r>
              <a:rPr lang="en-US" dirty="0"/>
              <a:t>        advance round-robin pointer</a:t>
            </a:r>
          </a:p>
          <a:p>
            <a:r>
              <a:rPr lang="en-US" dirty="0"/>
              <a:t>        </a:t>
            </a:r>
            <a:r>
              <a:rPr lang="en-US" dirty="0" err="1"/>
              <a:t>OnGrant</a:t>
            </a:r>
            <a:r>
              <a:rPr lang="en-US" dirty="0"/>
              <a:t>(g)           ← per-scheme </a:t>
            </a:r>
            <a:r>
              <a:rPr lang="en-US" dirty="0" err="1"/>
              <a:t>pointter</a:t>
            </a:r>
            <a:endParaRPr lang="en-US" dirty="0"/>
          </a:p>
        </p:txBody>
      </p:sp>
      <p:sp>
        <p:nvSpPr>
          <p:cNvPr id="6" name="TextBox 5">
            <a:extLst>
              <a:ext uri="{FF2B5EF4-FFF2-40B4-BE49-F238E27FC236}">
                <a16:creationId xmlns:a16="http://schemas.microsoft.com/office/drawing/2014/main" id="{C942229C-3820-4380-D9FE-A8EBCB1B3882}"/>
              </a:ext>
            </a:extLst>
          </p:cNvPr>
          <p:cNvSpPr txBox="1"/>
          <p:nvPr/>
        </p:nvSpPr>
        <p:spPr>
          <a:xfrm>
            <a:off x="5822066" y="254822"/>
            <a:ext cx="6369934" cy="6186309"/>
          </a:xfrm>
          <a:prstGeom prst="rect">
            <a:avLst/>
          </a:prstGeom>
          <a:noFill/>
        </p:spPr>
        <p:txBody>
          <a:bodyPr wrap="square">
            <a:spAutoFit/>
          </a:bodyPr>
          <a:lstStyle/>
          <a:p>
            <a:r>
              <a:rPr lang="en-US" b="1" dirty="0"/>
              <a:t>Three architectures:</a:t>
            </a:r>
          </a:p>
          <a:p>
            <a:r>
              <a:rPr lang="en-US" b="1" dirty="0"/>
              <a:t>Round Robin (RR)</a:t>
            </a:r>
          </a:p>
          <a:p>
            <a:r>
              <a:rPr lang="en-US" dirty="0"/>
              <a:t>Eligible(m) = always</a:t>
            </a:r>
          </a:p>
          <a:p>
            <a:r>
              <a:rPr lang="en-US" dirty="0"/>
              <a:t>Pick(E)     = first requester, scanning from the round-robin pointer</a:t>
            </a:r>
          </a:p>
          <a:p>
            <a:r>
              <a:rPr lang="en-US" dirty="0" err="1"/>
              <a:t>OnGrant</a:t>
            </a:r>
            <a:r>
              <a:rPr lang="en-US" dirty="0"/>
              <a:t>(g)  = nothing</a:t>
            </a:r>
          </a:p>
          <a:p>
            <a:endParaRPr lang="en-US" dirty="0"/>
          </a:p>
          <a:p>
            <a:r>
              <a:rPr lang="en-US" b="1" dirty="0"/>
              <a:t>Quality of Service (QoS): Priority Based</a:t>
            </a:r>
          </a:p>
          <a:p>
            <a:r>
              <a:rPr lang="en-US" dirty="0"/>
              <a:t>Eligible(m) = always</a:t>
            </a:r>
          </a:p>
          <a:p>
            <a:r>
              <a:rPr lang="en-US" dirty="0"/>
              <a:t>Pick(E)     = highest effective priority</a:t>
            </a:r>
          </a:p>
          <a:p>
            <a:r>
              <a:rPr lang="en-US" dirty="0"/>
              <a:t>              eff(m) = QOS_MAX  if m has waited ≥ STARVE_LIMIT</a:t>
            </a:r>
          </a:p>
          <a:p>
            <a:r>
              <a:rPr lang="en-US" dirty="0"/>
              <a:t>                       </a:t>
            </a:r>
            <a:r>
              <a:rPr lang="en-US" dirty="0" err="1"/>
              <a:t>qos</a:t>
            </a:r>
            <a:r>
              <a:rPr lang="en-US" dirty="0"/>
              <a:t>(m)   otherwise</a:t>
            </a:r>
          </a:p>
          <a:p>
            <a:r>
              <a:rPr lang="en-US" dirty="0" err="1"/>
              <a:t>OnGrant</a:t>
            </a:r>
            <a:r>
              <a:rPr lang="en-US" dirty="0"/>
              <a:t>(g)  = clear g's age; increment age of everyone still waiting</a:t>
            </a:r>
          </a:p>
          <a:p>
            <a:endParaRPr lang="en-US" b="1" dirty="0"/>
          </a:p>
          <a:p>
            <a:r>
              <a:rPr lang="en-US" b="1" dirty="0"/>
              <a:t>Deficit Round Robin(DRR)+ QoS</a:t>
            </a:r>
          </a:p>
          <a:p>
            <a:r>
              <a:rPr lang="en-US" dirty="0"/>
              <a:t>Eligible(m) = deficit(m) ≥ cost(m)        ← the key difference</a:t>
            </a:r>
          </a:p>
          <a:p>
            <a:r>
              <a:rPr lang="en-US" dirty="0"/>
              <a:t>              cost(m) = </a:t>
            </a:r>
            <a:r>
              <a:rPr lang="en-US" dirty="0" err="1"/>
              <a:t>len</a:t>
            </a:r>
            <a:r>
              <a:rPr lang="en-US" dirty="0"/>
              <a:t>(m) + 1  (beats, not requests)</a:t>
            </a:r>
          </a:p>
          <a:p>
            <a:r>
              <a:rPr lang="en-US" dirty="0"/>
              <a:t>Pick(E)     = highest </a:t>
            </a:r>
            <a:r>
              <a:rPr lang="en-US" dirty="0" err="1"/>
              <a:t>qos</a:t>
            </a:r>
            <a:r>
              <a:rPr lang="en-US" dirty="0"/>
              <a:t> among the eligible (round-robin breaks ties)</a:t>
            </a:r>
          </a:p>
          <a:p>
            <a:r>
              <a:rPr lang="en-US" dirty="0" err="1"/>
              <a:t>OnGrant</a:t>
            </a:r>
            <a:r>
              <a:rPr lang="en-US" dirty="0"/>
              <a:t>(g)  = deficit(g) −= cost(g)</a:t>
            </a:r>
          </a:p>
          <a:p>
            <a:r>
              <a:rPr lang="en-US" dirty="0"/>
              <a:t>Round end   = if masters are requesting but none is eligible,</a:t>
            </a:r>
          </a:p>
          <a:p>
            <a:r>
              <a:rPr lang="en-US" dirty="0"/>
              <a:t>              credit every requester: deficit(m) += quantum(m)</a:t>
            </a:r>
          </a:p>
          <a:p>
            <a:r>
              <a:rPr lang="en-US" dirty="0"/>
              <a:t>              quantum(m) = QUANTUM_MIN + weight(m) × STEP</a:t>
            </a:r>
          </a:p>
        </p:txBody>
      </p:sp>
    </p:spTree>
    <p:extLst>
      <p:ext uri="{BB962C8B-B14F-4D97-AF65-F5344CB8AC3E}">
        <p14:creationId xmlns:p14="http://schemas.microsoft.com/office/powerpoint/2010/main" val="33687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14DB7-E84E-8ECE-588C-579D0F0D1E7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6553D11-25A5-E062-58DE-79CC51EE9128}"/>
              </a:ext>
            </a:extLst>
          </p:cNvPr>
          <p:cNvSpPr txBox="1"/>
          <p:nvPr/>
        </p:nvSpPr>
        <p:spPr>
          <a:xfrm>
            <a:off x="289717" y="5553747"/>
            <a:ext cx="11794603" cy="1077218"/>
          </a:xfrm>
          <a:prstGeom prst="rect">
            <a:avLst/>
          </a:prstGeom>
          <a:noFill/>
        </p:spPr>
        <p:txBody>
          <a:bodyPr wrap="square" rtlCol="0">
            <a:spAutoFit/>
          </a:bodyPr>
          <a:lstStyle/>
          <a:p>
            <a:r>
              <a:rPr lang="en-US" sz="1600" dirty="0"/>
              <a:t>Here the high-priority master m0’s latency improves as we move towards QoS and DRR based architecture.</a:t>
            </a:r>
          </a:p>
          <a:p>
            <a:r>
              <a:rPr lang="en-US" sz="1600" dirty="0"/>
              <a:t>Equal priority masters m1 and m2 have different burst sizes (m2 bigger burst, m1 smaller burst), so m2 will hog up the bandwidth unfairly in regular round robin architecture. So, as we move to DRR architecture, this ratio evens out and reaches 1. But this BW fairness also increases m2’s latency slightly while decreasing m1’s latency significantly.</a:t>
            </a:r>
          </a:p>
        </p:txBody>
      </p:sp>
      <p:grpSp>
        <p:nvGrpSpPr>
          <p:cNvPr id="25" name="Group 24">
            <a:extLst>
              <a:ext uri="{FF2B5EF4-FFF2-40B4-BE49-F238E27FC236}">
                <a16:creationId xmlns:a16="http://schemas.microsoft.com/office/drawing/2014/main" id="{CEC9DE98-BC18-EDFF-94DD-BECC70F8419B}"/>
              </a:ext>
            </a:extLst>
          </p:cNvPr>
          <p:cNvGrpSpPr/>
          <p:nvPr/>
        </p:nvGrpSpPr>
        <p:grpSpPr>
          <a:xfrm>
            <a:off x="558800" y="440267"/>
            <a:ext cx="9538719" cy="4913666"/>
            <a:chOff x="558800" y="431800"/>
            <a:chExt cx="9538719" cy="4913666"/>
          </a:xfrm>
        </p:grpSpPr>
        <p:pic>
          <p:nvPicPr>
            <p:cNvPr id="33" name="Picture 32">
              <a:extLst>
                <a:ext uri="{FF2B5EF4-FFF2-40B4-BE49-F238E27FC236}">
                  <a16:creationId xmlns:a16="http://schemas.microsoft.com/office/drawing/2014/main" id="{C43F6C4D-C40B-C669-03DD-C50460182378}"/>
                </a:ext>
              </a:extLst>
            </p:cNvPr>
            <p:cNvPicPr>
              <a:picLocks noChangeAspect="1"/>
            </p:cNvPicPr>
            <p:nvPr/>
          </p:nvPicPr>
          <p:blipFill>
            <a:blip r:embed="rId2">
              <a:extLst>
                <a:ext uri="{28A0092B-C50C-407E-A947-70E740481C1C}">
                  <a14:useLocalDpi xmlns:a14="http://schemas.microsoft.com/office/drawing/2010/main" val="0"/>
                </a:ext>
              </a:extLst>
            </a:blip>
            <a:srcRect l="5905" t="7071" r="9106" b="6384"/>
            <a:stretch>
              <a:fillRect/>
            </a:stretch>
          </p:blipFill>
          <p:spPr>
            <a:xfrm>
              <a:off x="5463401" y="2837333"/>
              <a:ext cx="4634118" cy="2359527"/>
            </a:xfrm>
            <a:prstGeom prst="rect">
              <a:avLst/>
            </a:prstGeom>
          </p:spPr>
        </p:pic>
        <p:pic>
          <p:nvPicPr>
            <p:cNvPr id="31" name="Picture 30">
              <a:extLst>
                <a:ext uri="{FF2B5EF4-FFF2-40B4-BE49-F238E27FC236}">
                  <a16:creationId xmlns:a16="http://schemas.microsoft.com/office/drawing/2014/main" id="{AB371935-6152-E28E-CDDC-CC1D927BD225}"/>
                </a:ext>
              </a:extLst>
            </p:cNvPr>
            <p:cNvPicPr>
              <a:picLocks noChangeAspect="1"/>
            </p:cNvPicPr>
            <p:nvPr/>
          </p:nvPicPr>
          <p:blipFill>
            <a:blip r:embed="rId3">
              <a:extLst>
                <a:ext uri="{28A0092B-C50C-407E-A947-70E740481C1C}">
                  <a14:useLocalDpi xmlns:a14="http://schemas.microsoft.com/office/drawing/2010/main" val="0"/>
                </a:ext>
              </a:extLst>
            </a:blip>
            <a:srcRect l="5076" t="5196" r="9106" b="7328"/>
            <a:stretch>
              <a:fillRect/>
            </a:stretch>
          </p:blipFill>
          <p:spPr>
            <a:xfrm>
              <a:off x="5423915" y="434370"/>
              <a:ext cx="4648203" cy="2368999"/>
            </a:xfrm>
            <a:prstGeom prst="rect">
              <a:avLst/>
            </a:prstGeom>
          </p:spPr>
        </p:pic>
        <p:pic>
          <p:nvPicPr>
            <p:cNvPr id="28" name="Picture 27">
              <a:extLst>
                <a:ext uri="{FF2B5EF4-FFF2-40B4-BE49-F238E27FC236}">
                  <a16:creationId xmlns:a16="http://schemas.microsoft.com/office/drawing/2014/main" id="{710D4672-AFAB-E487-EB8A-8FE5BECF8C5A}"/>
                </a:ext>
              </a:extLst>
            </p:cNvPr>
            <p:cNvPicPr>
              <a:picLocks noChangeAspect="1"/>
            </p:cNvPicPr>
            <p:nvPr/>
          </p:nvPicPr>
          <p:blipFill>
            <a:blip r:embed="rId4">
              <a:extLst>
                <a:ext uri="{28A0092B-C50C-407E-A947-70E740481C1C}">
                  <a14:useLocalDpi xmlns:a14="http://schemas.microsoft.com/office/drawing/2010/main" val="0"/>
                </a:ext>
              </a:extLst>
            </a:blip>
            <a:srcRect l="4964" t="5759" r="8838" b="6932"/>
            <a:stretch>
              <a:fillRect/>
            </a:stretch>
          </p:blipFill>
          <p:spPr>
            <a:xfrm>
              <a:off x="566095" y="2823996"/>
              <a:ext cx="4659010" cy="2359527"/>
            </a:xfrm>
            <a:prstGeom prst="rect">
              <a:avLst/>
            </a:prstGeom>
          </p:spPr>
        </p:pic>
        <p:pic>
          <p:nvPicPr>
            <p:cNvPr id="16" name="Picture 15">
              <a:extLst>
                <a:ext uri="{FF2B5EF4-FFF2-40B4-BE49-F238E27FC236}">
                  <a16:creationId xmlns:a16="http://schemas.microsoft.com/office/drawing/2014/main" id="{34E2CDBC-86E6-36A3-4058-4EB045CAC9EC}"/>
                </a:ext>
              </a:extLst>
            </p:cNvPr>
            <p:cNvPicPr>
              <a:picLocks noChangeAspect="1"/>
            </p:cNvPicPr>
            <p:nvPr/>
          </p:nvPicPr>
          <p:blipFill>
            <a:blip r:embed="rId5">
              <a:extLst>
                <a:ext uri="{28A0092B-C50C-407E-A947-70E740481C1C}">
                  <a14:useLocalDpi xmlns:a14="http://schemas.microsoft.com/office/drawing/2010/main" val="0"/>
                </a:ext>
              </a:extLst>
            </a:blip>
            <a:srcRect l="4954" t="5402" r="9021" b="6043"/>
            <a:stretch>
              <a:fillRect/>
            </a:stretch>
          </p:blipFill>
          <p:spPr>
            <a:xfrm>
              <a:off x="558800" y="431800"/>
              <a:ext cx="4673600" cy="2405532"/>
            </a:xfrm>
            <a:prstGeom prst="rect">
              <a:avLst/>
            </a:prstGeom>
          </p:spPr>
        </p:pic>
        <p:sp>
          <p:nvSpPr>
            <p:cNvPr id="5" name="TextBox 4">
              <a:extLst>
                <a:ext uri="{FF2B5EF4-FFF2-40B4-BE49-F238E27FC236}">
                  <a16:creationId xmlns:a16="http://schemas.microsoft.com/office/drawing/2014/main" id="{3E705DC3-23B4-AA15-1F15-B80F09AF268B}"/>
                </a:ext>
              </a:extLst>
            </p:cNvPr>
            <p:cNvSpPr txBox="1"/>
            <p:nvPr/>
          </p:nvSpPr>
          <p:spPr>
            <a:xfrm>
              <a:off x="5918199" y="518956"/>
              <a:ext cx="440267" cy="27699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(b)</a:t>
              </a:r>
              <a:endParaRPr lang="en-US"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B3C6234-A919-84F7-4C33-3EBEC4F7BC8C}"/>
                </a:ext>
              </a:extLst>
            </p:cNvPr>
            <p:cNvSpPr txBox="1"/>
            <p:nvPr/>
          </p:nvSpPr>
          <p:spPr>
            <a:xfrm>
              <a:off x="1044378" y="2937738"/>
              <a:ext cx="440267" cy="27699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(c)</a:t>
              </a:r>
              <a:endParaRPr lang="en-US"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C9D9461-A9B0-38CE-2A6A-AAB9AC611351}"/>
                </a:ext>
              </a:extLst>
            </p:cNvPr>
            <p:cNvSpPr txBox="1"/>
            <p:nvPr/>
          </p:nvSpPr>
          <p:spPr>
            <a:xfrm>
              <a:off x="5926667" y="2883257"/>
              <a:ext cx="440267" cy="27699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(d)</a:t>
              </a:r>
              <a:endParaRPr lang="en-US" sz="14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181D777F-107E-734E-6A12-110DAE5B1655}"/>
                </a:ext>
              </a:extLst>
            </p:cNvPr>
            <p:cNvPicPr>
              <a:picLocks noChangeAspect="1"/>
            </p:cNvPicPr>
            <p:nvPr/>
          </p:nvPicPr>
          <p:blipFill>
            <a:blip r:embed="rId6"/>
            <a:srcRect t="20757"/>
            <a:stretch>
              <a:fillRect/>
            </a:stretch>
          </p:blipFill>
          <p:spPr>
            <a:xfrm>
              <a:off x="1112113" y="590550"/>
              <a:ext cx="1160553" cy="806718"/>
            </a:xfrm>
            <a:prstGeom prst="rect">
              <a:avLst/>
            </a:prstGeom>
          </p:spPr>
        </p:pic>
        <p:pic>
          <p:nvPicPr>
            <p:cNvPr id="17" name="Picture 16">
              <a:extLst>
                <a:ext uri="{FF2B5EF4-FFF2-40B4-BE49-F238E27FC236}">
                  <a16:creationId xmlns:a16="http://schemas.microsoft.com/office/drawing/2014/main" id="{AE9E5BDB-6FA6-6FFC-42F5-5DA7CAAB0B20}"/>
                </a:ext>
              </a:extLst>
            </p:cNvPr>
            <p:cNvPicPr>
              <a:picLocks noChangeAspect="1"/>
            </p:cNvPicPr>
            <p:nvPr/>
          </p:nvPicPr>
          <p:blipFill>
            <a:blip r:embed="rId7"/>
            <a:stretch>
              <a:fillRect/>
            </a:stretch>
          </p:blipFill>
          <p:spPr>
            <a:xfrm>
              <a:off x="1129153" y="1299813"/>
              <a:ext cx="872832" cy="425442"/>
            </a:xfrm>
            <a:prstGeom prst="rect">
              <a:avLst/>
            </a:prstGeom>
          </p:spPr>
        </p:pic>
        <p:sp>
          <p:nvSpPr>
            <p:cNvPr id="19" name="TextBox 18">
              <a:extLst>
                <a:ext uri="{FF2B5EF4-FFF2-40B4-BE49-F238E27FC236}">
                  <a16:creationId xmlns:a16="http://schemas.microsoft.com/office/drawing/2014/main" id="{DBF2AED2-1916-6B5C-5D1A-AA83B239AF39}"/>
                </a:ext>
              </a:extLst>
            </p:cNvPr>
            <p:cNvSpPr txBox="1"/>
            <p:nvPr/>
          </p:nvSpPr>
          <p:spPr>
            <a:xfrm>
              <a:off x="1035909" y="496216"/>
              <a:ext cx="440267" cy="27699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a:t>
              </a:r>
              <a:endParaRPr lang="en-US" sz="1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6A00A88-6F97-052F-BD42-D10F6CAF9C32}"/>
                </a:ext>
              </a:extLst>
            </p:cNvPr>
            <p:cNvSpPr txBox="1"/>
            <p:nvPr/>
          </p:nvSpPr>
          <p:spPr>
            <a:xfrm>
              <a:off x="9038567" y="3021756"/>
              <a:ext cx="740434" cy="261610"/>
            </a:xfrm>
            <a:prstGeom prst="rect">
              <a:avLst/>
            </a:prstGeom>
            <a:noFill/>
          </p:spPr>
          <p:txBody>
            <a:bodyPr wrap="square">
              <a:spAutoFit/>
            </a:bodyPr>
            <a:lstStyle/>
            <a:p>
              <a:r>
                <a:rPr lang="en-US" sz="1050" dirty="0">
                  <a:latin typeface="Arial" panose="020B0604020202020204" pitchFamily="34" charset="0"/>
                  <a:cs typeface="Arial" panose="020B0604020202020204" pitchFamily="34" charset="0"/>
                </a:rPr>
                <a:t>Ideal at 1</a:t>
              </a:r>
              <a:endParaRPr lang="en-US" sz="11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E303870-E36A-A8E6-0EAF-B9CE539F4ED3}"/>
                </a:ext>
              </a:extLst>
            </p:cNvPr>
            <p:cNvSpPr txBox="1"/>
            <p:nvPr/>
          </p:nvSpPr>
          <p:spPr>
            <a:xfrm>
              <a:off x="6181938" y="4453635"/>
              <a:ext cx="1791719" cy="253916"/>
            </a:xfrm>
            <a:prstGeom prst="rect">
              <a:avLst/>
            </a:prstGeom>
            <a:noFill/>
          </p:spPr>
          <p:txBody>
            <a:bodyPr wrap="square">
              <a:spAutoFit/>
            </a:bodyPr>
            <a:lstStyle/>
            <a:p>
              <a:r>
                <a:rPr lang="en-US" sz="1050" dirty="0">
                  <a:latin typeface="Arial" panose="020B0604020202020204" pitchFamily="34" charset="0"/>
                  <a:cs typeface="Arial" panose="020B0604020202020204" pitchFamily="34" charset="0"/>
                </a:rPr>
                <a:t>Per request at 1/16</a:t>
              </a:r>
              <a:endParaRPr lang="en-US" sz="11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5CCA8244-12BE-7C66-C259-8664C0D257CE}"/>
                </a:ext>
              </a:extLst>
            </p:cNvPr>
            <p:cNvCxnSpPr>
              <a:cxnSpLocks/>
            </p:cNvCxnSpPr>
            <p:nvPr/>
          </p:nvCxnSpPr>
          <p:spPr>
            <a:xfrm rot="16200000" flipH="1" flipV="1">
              <a:off x="6428578" y="4680204"/>
              <a:ext cx="88262" cy="137583"/>
            </a:xfrm>
            <a:prstGeom prst="straightConnector1">
              <a:avLst/>
            </a:prstGeom>
            <a:ln w="952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B0C33090-2E3B-B349-3F01-ADB1FC4A9727}"/>
                </a:ext>
              </a:extLst>
            </p:cNvPr>
            <p:cNvCxnSpPr>
              <a:cxnSpLocks/>
            </p:cNvCxnSpPr>
            <p:nvPr/>
          </p:nvCxnSpPr>
          <p:spPr>
            <a:xfrm rot="16200000">
              <a:off x="9749137" y="3039638"/>
              <a:ext cx="88262" cy="137583"/>
            </a:xfrm>
            <a:prstGeom prst="straightConnector1">
              <a:avLst/>
            </a:prstGeom>
            <a:ln w="952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2" name="Picture 21">
              <a:extLst>
                <a:ext uri="{FF2B5EF4-FFF2-40B4-BE49-F238E27FC236}">
                  <a16:creationId xmlns:a16="http://schemas.microsoft.com/office/drawing/2014/main" id="{C132D0D1-995D-6891-61EB-03FAB57A8FB0}"/>
                </a:ext>
              </a:extLst>
            </p:cNvPr>
            <p:cNvPicPr>
              <a:picLocks noChangeAspect="1"/>
            </p:cNvPicPr>
            <p:nvPr/>
          </p:nvPicPr>
          <p:blipFill>
            <a:blip r:embed="rId8"/>
            <a:stretch>
              <a:fillRect/>
            </a:stretch>
          </p:blipFill>
          <p:spPr>
            <a:xfrm>
              <a:off x="1925783" y="5177811"/>
              <a:ext cx="2461473" cy="167655"/>
            </a:xfrm>
            <a:prstGeom prst="rect">
              <a:avLst/>
            </a:prstGeom>
          </p:spPr>
        </p:pic>
        <p:pic>
          <p:nvPicPr>
            <p:cNvPr id="24" name="Picture 23">
              <a:extLst>
                <a:ext uri="{FF2B5EF4-FFF2-40B4-BE49-F238E27FC236}">
                  <a16:creationId xmlns:a16="http://schemas.microsoft.com/office/drawing/2014/main" id="{6D1DA6E6-E504-601C-E86D-8D7B85840264}"/>
                </a:ext>
              </a:extLst>
            </p:cNvPr>
            <p:cNvPicPr>
              <a:picLocks noChangeAspect="1"/>
            </p:cNvPicPr>
            <p:nvPr/>
          </p:nvPicPr>
          <p:blipFill>
            <a:blip r:embed="rId8"/>
            <a:stretch>
              <a:fillRect/>
            </a:stretch>
          </p:blipFill>
          <p:spPr>
            <a:xfrm>
              <a:off x="6844933" y="5177810"/>
              <a:ext cx="2461473" cy="167655"/>
            </a:xfrm>
            <a:prstGeom prst="rect">
              <a:avLst/>
            </a:prstGeom>
          </p:spPr>
        </p:pic>
      </p:grpSp>
    </p:spTree>
    <p:extLst>
      <p:ext uri="{BB962C8B-B14F-4D97-AF65-F5344CB8AC3E}">
        <p14:creationId xmlns:p14="http://schemas.microsoft.com/office/powerpoint/2010/main" val="344142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4D048-1FF2-835E-BB37-303BCA6C06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0C28FF-B96F-6297-63AB-E137F63CF5AC}"/>
              </a:ext>
            </a:extLst>
          </p:cNvPr>
          <p:cNvSpPr txBox="1"/>
          <p:nvPr/>
        </p:nvSpPr>
        <p:spPr>
          <a:xfrm>
            <a:off x="972041" y="211596"/>
            <a:ext cx="3553659" cy="461665"/>
          </a:xfrm>
          <a:prstGeom prst="rect">
            <a:avLst/>
          </a:prstGeom>
          <a:noFill/>
        </p:spPr>
        <p:txBody>
          <a:bodyPr wrap="square" rtlCol="0">
            <a:spAutoFit/>
          </a:bodyPr>
          <a:lstStyle/>
          <a:p>
            <a:r>
              <a:rPr lang="en-US" sz="2400" b="1" dirty="0">
                <a:solidFill>
                  <a:srgbClr val="C00000"/>
                </a:solidFill>
              </a:rPr>
              <a:t>RR</a:t>
            </a:r>
            <a:r>
              <a:rPr lang="en-US" dirty="0"/>
              <a:t> architecture synthesis</a:t>
            </a:r>
          </a:p>
        </p:txBody>
      </p:sp>
      <p:sp>
        <p:nvSpPr>
          <p:cNvPr id="14" name="TextBox 13">
            <a:extLst>
              <a:ext uri="{FF2B5EF4-FFF2-40B4-BE49-F238E27FC236}">
                <a16:creationId xmlns:a16="http://schemas.microsoft.com/office/drawing/2014/main" id="{5FA3F284-C998-793A-A2DD-58B06EB52D48}"/>
              </a:ext>
            </a:extLst>
          </p:cNvPr>
          <p:cNvSpPr txBox="1"/>
          <p:nvPr/>
        </p:nvSpPr>
        <p:spPr>
          <a:xfrm>
            <a:off x="6794339" y="580928"/>
            <a:ext cx="4075962" cy="369332"/>
          </a:xfrm>
          <a:prstGeom prst="rect">
            <a:avLst/>
          </a:prstGeom>
          <a:noFill/>
        </p:spPr>
        <p:txBody>
          <a:bodyPr wrap="square" rtlCol="0">
            <a:spAutoFit/>
          </a:bodyPr>
          <a:lstStyle/>
          <a:p>
            <a:r>
              <a:rPr lang="en-US" dirty="0"/>
              <a:t>Final chip at 60% n core area utilization</a:t>
            </a:r>
          </a:p>
        </p:txBody>
      </p:sp>
      <p:pic>
        <p:nvPicPr>
          <p:cNvPr id="20" name="Picture 19">
            <a:extLst>
              <a:ext uri="{FF2B5EF4-FFF2-40B4-BE49-F238E27FC236}">
                <a16:creationId xmlns:a16="http://schemas.microsoft.com/office/drawing/2014/main" id="{F7797DB5-292F-126D-3001-56FFE155561F}"/>
              </a:ext>
            </a:extLst>
          </p:cNvPr>
          <p:cNvPicPr>
            <a:picLocks noChangeAspect="1"/>
          </p:cNvPicPr>
          <p:nvPr/>
        </p:nvPicPr>
        <p:blipFill>
          <a:blip r:embed="rId2"/>
          <a:stretch>
            <a:fillRect/>
          </a:stretch>
        </p:blipFill>
        <p:spPr>
          <a:xfrm>
            <a:off x="972041" y="765594"/>
            <a:ext cx="4458086" cy="5425910"/>
          </a:xfrm>
          <a:prstGeom prst="rect">
            <a:avLst/>
          </a:prstGeom>
        </p:spPr>
      </p:pic>
      <p:pic>
        <p:nvPicPr>
          <p:cNvPr id="24" name="Picture 23">
            <a:extLst>
              <a:ext uri="{FF2B5EF4-FFF2-40B4-BE49-F238E27FC236}">
                <a16:creationId xmlns:a16="http://schemas.microsoft.com/office/drawing/2014/main" id="{A5EC956C-B408-79CB-D6EE-870CD6946FCA}"/>
              </a:ext>
            </a:extLst>
          </p:cNvPr>
          <p:cNvPicPr>
            <a:picLocks noChangeAspect="1"/>
          </p:cNvPicPr>
          <p:nvPr/>
        </p:nvPicPr>
        <p:blipFill>
          <a:blip r:embed="rId3"/>
          <a:stretch>
            <a:fillRect/>
          </a:stretch>
        </p:blipFill>
        <p:spPr>
          <a:xfrm>
            <a:off x="5821321" y="1112359"/>
            <a:ext cx="5639289" cy="3718882"/>
          </a:xfrm>
          <a:prstGeom prst="rect">
            <a:avLst/>
          </a:prstGeom>
        </p:spPr>
      </p:pic>
    </p:spTree>
    <p:extLst>
      <p:ext uri="{BB962C8B-B14F-4D97-AF65-F5344CB8AC3E}">
        <p14:creationId xmlns:p14="http://schemas.microsoft.com/office/powerpoint/2010/main" val="1194609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082CD-9B12-4709-48B6-6282651380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D917BD-BEEE-1DA2-7572-F85F70F6D272}"/>
              </a:ext>
            </a:extLst>
          </p:cNvPr>
          <p:cNvSpPr txBox="1"/>
          <p:nvPr/>
        </p:nvSpPr>
        <p:spPr>
          <a:xfrm>
            <a:off x="410987" y="557042"/>
            <a:ext cx="859013" cy="523220"/>
          </a:xfrm>
          <a:prstGeom prst="rect">
            <a:avLst/>
          </a:prstGeom>
          <a:noFill/>
        </p:spPr>
        <p:txBody>
          <a:bodyPr wrap="square" rtlCol="0">
            <a:spAutoFit/>
          </a:bodyPr>
          <a:lstStyle/>
          <a:p>
            <a:r>
              <a:rPr lang="en-US" sz="2800" b="1" dirty="0">
                <a:solidFill>
                  <a:srgbClr val="C00000"/>
                </a:solidFill>
              </a:rPr>
              <a:t>QoS</a:t>
            </a:r>
          </a:p>
        </p:txBody>
      </p:sp>
      <p:pic>
        <p:nvPicPr>
          <p:cNvPr id="4" name="Picture 3">
            <a:extLst>
              <a:ext uri="{FF2B5EF4-FFF2-40B4-BE49-F238E27FC236}">
                <a16:creationId xmlns:a16="http://schemas.microsoft.com/office/drawing/2014/main" id="{D281F844-053A-84AC-62B1-8FCA9F0D8BFA}"/>
              </a:ext>
            </a:extLst>
          </p:cNvPr>
          <p:cNvPicPr>
            <a:picLocks noChangeAspect="1"/>
          </p:cNvPicPr>
          <p:nvPr/>
        </p:nvPicPr>
        <p:blipFill>
          <a:blip r:embed="rId2"/>
          <a:stretch>
            <a:fillRect/>
          </a:stretch>
        </p:blipFill>
        <p:spPr>
          <a:xfrm>
            <a:off x="1270000" y="557042"/>
            <a:ext cx="4496190" cy="5494496"/>
          </a:xfrm>
          <a:prstGeom prst="rect">
            <a:avLst/>
          </a:prstGeom>
        </p:spPr>
      </p:pic>
      <p:pic>
        <p:nvPicPr>
          <p:cNvPr id="6" name="Picture 5">
            <a:extLst>
              <a:ext uri="{FF2B5EF4-FFF2-40B4-BE49-F238E27FC236}">
                <a16:creationId xmlns:a16="http://schemas.microsoft.com/office/drawing/2014/main" id="{744AEC8F-A251-CD63-1022-5B08442F74C4}"/>
              </a:ext>
            </a:extLst>
          </p:cNvPr>
          <p:cNvPicPr>
            <a:picLocks noChangeAspect="1"/>
          </p:cNvPicPr>
          <p:nvPr/>
        </p:nvPicPr>
        <p:blipFill>
          <a:blip r:embed="rId3"/>
          <a:stretch>
            <a:fillRect/>
          </a:stretch>
        </p:blipFill>
        <p:spPr>
          <a:xfrm>
            <a:off x="6096000" y="926374"/>
            <a:ext cx="5685013" cy="3779848"/>
          </a:xfrm>
          <a:prstGeom prst="rect">
            <a:avLst/>
          </a:prstGeom>
        </p:spPr>
      </p:pic>
      <p:sp>
        <p:nvSpPr>
          <p:cNvPr id="9" name="TextBox 8">
            <a:extLst>
              <a:ext uri="{FF2B5EF4-FFF2-40B4-BE49-F238E27FC236}">
                <a16:creationId xmlns:a16="http://schemas.microsoft.com/office/drawing/2014/main" id="{63E0E9F4-A420-F63E-FDBD-5B33469E3C49}"/>
              </a:ext>
            </a:extLst>
          </p:cNvPr>
          <p:cNvSpPr txBox="1"/>
          <p:nvPr/>
        </p:nvSpPr>
        <p:spPr>
          <a:xfrm>
            <a:off x="7009436" y="355443"/>
            <a:ext cx="4075962" cy="369332"/>
          </a:xfrm>
          <a:prstGeom prst="rect">
            <a:avLst/>
          </a:prstGeom>
          <a:noFill/>
        </p:spPr>
        <p:txBody>
          <a:bodyPr wrap="square" rtlCol="0">
            <a:spAutoFit/>
          </a:bodyPr>
          <a:lstStyle/>
          <a:p>
            <a:r>
              <a:rPr lang="en-US" dirty="0"/>
              <a:t>Final chip at 60% n core area utilization</a:t>
            </a:r>
          </a:p>
        </p:txBody>
      </p:sp>
    </p:spTree>
    <p:extLst>
      <p:ext uri="{BB962C8B-B14F-4D97-AF65-F5344CB8AC3E}">
        <p14:creationId xmlns:p14="http://schemas.microsoft.com/office/powerpoint/2010/main" val="1391756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A9F3-0220-298C-571D-A32685C1B6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A617B9-DB57-02F1-6492-E26A112DFA2B}"/>
              </a:ext>
            </a:extLst>
          </p:cNvPr>
          <p:cNvSpPr txBox="1"/>
          <p:nvPr/>
        </p:nvSpPr>
        <p:spPr>
          <a:xfrm>
            <a:off x="978550" y="437130"/>
            <a:ext cx="1322690" cy="461665"/>
          </a:xfrm>
          <a:prstGeom prst="rect">
            <a:avLst/>
          </a:prstGeom>
          <a:noFill/>
        </p:spPr>
        <p:txBody>
          <a:bodyPr wrap="square" rtlCol="0">
            <a:spAutoFit/>
          </a:bodyPr>
          <a:lstStyle/>
          <a:p>
            <a:r>
              <a:rPr lang="en-US" sz="2400" b="1" dirty="0">
                <a:solidFill>
                  <a:srgbClr val="C00000"/>
                </a:solidFill>
              </a:rPr>
              <a:t>DRR</a:t>
            </a:r>
          </a:p>
        </p:txBody>
      </p:sp>
      <p:pic>
        <p:nvPicPr>
          <p:cNvPr id="5" name="Picture 4">
            <a:extLst>
              <a:ext uri="{FF2B5EF4-FFF2-40B4-BE49-F238E27FC236}">
                <a16:creationId xmlns:a16="http://schemas.microsoft.com/office/drawing/2014/main" id="{3F88A65A-49F9-56E7-A858-47D26E858D9B}"/>
              </a:ext>
            </a:extLst>
          </p:cNvPr>
          <p:cNvPicPr>
            <a:picLocks noChangeAspect="1"/>
          </p:cNvPicPr>
          <p:nvPr/>
        </p:nvPicPr>
        <p:blipFill>
          <a:blip r:embed="rId2"/>
          <a:stretch>
            <a:fillRect/>
          </a:stretch>
        </p:blipFill>
        <p:spPr>
          <a:xfrm>
            <a:off x="543081" y="926374"/>
            <a:ext cx="4511431" cy="5494496"/>
          </a:xfrm>
          <a:prstGeom prst="rect">
            <a:avLst/>
          </a:prstGeom>
        </p:spPr>
      </p:pic>
      <p:pic>
        <p:nvPicPr>
          <p:cNvPr id="7" name="Picture 6">
            <a:extLst>
              <a:ext uri="{FF2B5EF4-FFF2-40B4-BE49-F238E27FC236}">
                <a16:creationId xmlns:a16="http://schemas.microsoft.com/office/drawing/2014/main" id="{AAE9198E-9C14-989E-62FA-46D270915E65}"/>
              </a:ext>
            </a:extLst>
          </p:cNvPr>
          <p:cNvPicPr>
            <a:picLocks noChangeAspect="1"/>
          </p:cNvPicPr>
          <p:nvPr/>
        </p:nvPicPr>
        <p:blipFill>
          <a:blip r:embed="rId3"/>
          <a:stretch>
            <a:fillRect/>
          </a:stretch>
        </p:blipFill>
        <p:spPr>
          <a:xfrm>
            <a:off x="5930584" y="1003983"/>
            <a:ext cx="5723116" cy="3749365"/>
          </a:xfrm>
          <a:prstGeom prst="rect">
            <a:avLst/>
          </a:prstGeom>
        </p:spPr>
      </p:pic>
      <p:sp>
        <p:nvSpPr>
          <p:cNvPr id="9" name="TextBox 8">
            <a:extLst>
              <a:ext uri="{FF2B5EF4-FFF2-40B4-BE49-F238E27FC236}">
                <a16:creationId xmlns:a16="http://schemas.microsoft.com/office/drawing/2014/main" id="{607CB729-5E91-2629-BB7F-98B9A943B75B}"/>
              </a:ext>
            </a:extLst>
          </p:cNvPr>
          <p:cNvSpPr txBox="1"/>
          <p:nvPr/>
        </p:nvSpPr>
        <p:spPr>
          <a:xfrm>
            <a:off x="6845950" y="483296"/>
            <a:ext cx="4075962" cy="369332"/>
          </a:xfrm>
          <a:prstGeom prst="rect">
            <a:avLst/>
          </a:prstGeom>
          <a:noFill/>
        </p:spPr>
        <p:txBody>
          <a:bodyPr wrap="square" rtlCol="0">
            <a:spAutoFit/>
          </a:bodyPr>
          <a:lstStyle/>
          <a:p>
            <a:r>
              <a:rPr lang="en-US" dirty="0"/>
              <a:t>Final chip at 60% n core area utilization</a:t>
            </a:r>
          </a:p>
        </p:txBody>
      </p:sp>
    </p:spTree>
    <p:extLst>
      <p:ext uri="{BB962C8B-B14F-4D97-AF65-F5344CB8AC3E}">
        <p14:creationId xmlns:p14="http://schemas.microsoft.com/office/powerpoint/2010/main" val="881948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20063568-5996-268E-DB49-DFD4CD0139A0}"/>
              </a:ext>
            </a:extLst>
          </p:cNvPr>
          <p:cNvGrpSpPr/>
          <p:nvPr/>
        </p:nvGrpSpPr>
        <p:grpSpPr>
          <a:xfrm>
            <a:off x="2523067" y="1073100"/>
            <a:ext cx="6364096" cy="4296719"/>
            <a:chOff x="2523067" y="1073100"/>
            <a:chExt cx="6364096" cy="4296719"/>
          </a:xfrm>
        </p:grpSpPr>
        <p:sp>
          <p:nvSpPr>
            <p:cNvPr id="3" name="Rectangle 2">
              <a:extLst>
                <a:ext uri="{FF2B5EF4-FFF2-40B4-BE49-F238E27FC236}">
                  <a16:creationId xmlns:a16="http://schemas.microsoft.com/office/drawing/2014/main" id="{8D60C683-B176-6D42-1D79-9F48576BC16A}"/>
                </a:ext>
              </a:extLst>
            </p:cNvPr>
            <p:cNvSpPr/>
            <p:nvPr/>
          </p:nvSpPr>
          <p:spPr>
            <a:xfrm>
              <a:off x="2523067" y="1073100"/>
              <a:ext cx="6351779" cy="427614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EEC9603-3FF4-D66D-76B9-329083B9AAFF}"/>
                </a:ext>
              </a:extLst>
            </p:cNvPr>
            <p:cNvPicPr>
              <a:picLocks noChangeAspect="1"/>
            </p:cNvPicPr>
            <p:nvPr/>
          </p:nvPicPr>
          <p:blipFill>
            <a:blip r:embed="rId2"/>
            <a:stretch>
              <a:fillRect/>
            </a:stretch>
          </p:blipFill>
          <p:spPr>
            <a:xfrm>
              <a:off x="2811109" y="1325716"/>
              <a:ext cx="5723116" cy="3749365"/>
            </a:xfrm>
            <a:prstGeom prst="rect">
              <a:avLst/>
            </a:prstGeom>
          </p:spPr>
        </p:pic>
        <p:sp>
          <p:nvSpPr>
            <p:cNvPr id="10" name="Left Bracket 9">
              <a:extLst>
                <a:ext uri="{FF2B5EF4-FFF2-40B4-BE49-F238E27FC236}">
                  <a16:creationId xmlns:a16="http://schemas.microsoft.com/office/drawing/2014/main" id="{F4841619-F48F-EC0D-D908-9D15F1AF9B94}"/>
                </a:ext>
              </a:extLst>
            </p:cNvPr>
            <p:cNvSpPr/>
            <p:nvPr/>
          </p:nvSpPr>
          <p:spPr>
            <a:xfrm rot="5400000">
              <a:off x="4758055" y="-468159"/>
              <a:ext cx="87630" cy="3675380"/>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ket 11">
              <a:extLst>
                <a:ext uri="{FF2B5EF4-FFF2-40B4-BE49-F238E27FC236}">
                  <a16:creationId xmlns:a16="http://schemas.microsoft.com/office/drawing/2014/main" id="{260FB9B3-B4A5-F580-C8E9-4F07F7BB7609}"/>
                </a:ext>
              </a:extLst>
            </p:cNvPr>
            <p:cNvSpPr/>
            <p:nvPr/>
          </p:nvSpPr>
          <p:spPr>
            <a:xfrm rot="5400000">
              <a:off x="7468234" y="527520"/>
              <a:ext cx="87630" cy="1684021"/>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ket 13">
              <a:extLst>
                <a:ext uri="{FF2B5EF4-FFF2-40B4-BE49-F238E27FC236}">
                  <a16:creationId xmlns:a16="http://schemas.microsoft.com/office/drawing/2014/main" id="{ABEE79B7-C134-EE36-66C2-2981D2787417}"/>
                </a:ext>
              </a:extLst>
            </p:cNvPr>
            <p:cNvSpPr/>
            <p:nvPr/>
          </p:nvSpPr>
          <p:spPr>
            <a:xfrm rot="16200000">
              <a:off x="7468234" y="4189255"/>
              <a:ext cx="87630" cy="1684021"/>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ket 17">
              <a:extLst>
                <a:ext uri="{FF2B5EF4-FFF2-40B4-BE49-F238E27FC236}">
                  <a16:creationId xmlns:a16="http://schemas.microsoft.com/office/drawing/2014/main" id="{03173183-653D-20AF-BA33-145B04369762}"/>
                </a:ext>
              </a:extLst>
            </p:cNvPr>
            <p:cNvSpPr/>
            <p:nvPr/>
          </p:nvSpPr>
          <p:spPr>
            <a:xfrm rot="16200000" flipV="1">
              <a:off x="4752975" y="3194521"/>
              <a:ext cx="87630" cy="3675380"/>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ket 19">
              <a:extLst>
                <a:ext uri="{FF2B5EF4-FFF2-40B4-BE49-F238E27FC236}">
                  <a16:creationId xmlns:a16="http://schemas.microsoft.com/office/drawing/2014/main" id="{43502CA7-A673-5682-FA76-70D5CCB30173}"/>
                </a:ext>
              </a:extLst>
            </p:cNvPr>
            <p:cNvSpPr/>
            <p:nvPr/>
          </p:nvSpPr>
          <p:spPr>
            <a:xfrm flipV="1">
              <a:off x="2832400" y="1508760"/>
              <a:ext cx="45719" cy="3368040"/>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Left Bracket 21">
              <a:extLst>
                <a:ext uri="{FF2B5EF4-FFF2-40B4-BE49-F238E27FC236}">
                  <a16:creationId xmlns:a16="http://schemas.microsoft.com/office/drawing/2014/main" id="{7F883915-24A8-9E1D-33C4-9F2FF4F9D4C9}"/>
                </a:ext>
              </a:extLst>
            </p:cNvPr>
            <p:cNvSpPr/>
            <p:nvPr/>
          </p:nvSpPr>
          <p:spPr>
            <a:xfrm flipH="1" flipV="1">
              <a:off x="8455955" y="1508760"/>
              <a:ext cx="45719" cy="3180080"/>
            </a:xfrm>
            <a:prstGeom prst="leftBracket">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1E79D3C4-C91F-109F-A5E4-F5A48412E865}"/>
                </a:ext>
              </a:extLst>
            </p:cNvPr>
            <p:cNvSpPr txBox="1"/>
            <p:nvPr/>
          </p:nvSpPr>
          <p:spPr>
            <a:xfrm>
              <a:off x="4056466" y="1073100"/>
              <a:ext cx="1684022" cy="338554"/>
            </a:xfrm>
            <a:prstGeom prst="rect">
              <a:avLst/>
            </a:prstGeom>
            <a:noFill/>
          </p:spPr>
          <p:txBody>
            <a:bodyPr wrap="square" rtlCol="0">
              <a:spAutoFit/>
            </a:bodyPr>
            <a:lstStyle/>
            <a:p>
              <a:r>
                <a:rPr lang="en-US" sz="1600" b="1" dirty="0">
                  <a:solidFill>
                    <a:schemeClr val="bg1"/>
                  </a:solidFill>
                </a:rPr>
                <a:t>master 0 ports</a:t>
              </a:r>
            </a:p>
          </p:txBody>
        </p:sp>
        <p:sp>
          <p:nvSpPr>
            <p:cNvPr id="25" name="TextBox 24">
              <a:extLst>
                <a:ext uri="{FF2B5EF4-FFF2-40B4-BE49-F238E27FC236}">
                  <a16:creationId xmlns:a16="http://schemas.microsoft.com/office/drawing/2014/main" id="{DB0A117A-B8DF-B0B5-CEBA-081E3C53FDDF}"/>
                </a:ext>
              </a:extLst>
            </p:cNvPr>
            <p:cNvSpPr txBox="1"/>
            <p:nvPr/>
          </p:nvSpPr>
          <p:spPr>
            <a:xfrm rot="16200000">
              <a:off x="1834185" y="2595094"/>
              <a:ext cx="1789533" cy="338554"/>
            </a:xfrm>
            <a:prstGeom prst="rect">
              <a:avLst/>
            </a:prstGeom>
            <a:noFill/>
          </p:spPr>
          <p:txBody>
            <a:bodyPr wrap="square" rtlCol="0">
              <a:spAutoFit/>
            </a:bodyPr>
            <a:lstStyle/>
            <a:p>
              <a:r>
                <a:rPr lang="en-US" sz="1600" b="1" dirty="0">
                  <a:solidFill>
                    <a:schemeClr val="bg1"/>
                  </a:solidFill>
                </a:rPr>
                <a:t>master 1 ports</a:t>
              </a:r>
            </a:p>
          </p:txBody>
        </p:sp>
        <p:sp>
          <p:nvSpPr>
            <p:cNvPr id="27" name="TextBox 26">
              <a:extLst>
                <a:ext uri="{FF2B5EF4-FFF2-40B4-BE49-F238E27FC236}">
                  <a16:creationId xmlns:a16="http://schemas.microsoft.com/office/drawing/2014/main" id="{2344D111-F741-9FA1-849D-FC758EB79663}"/>
                </a:ext>
              </a:extLst>
            </p:cNvPr>
            <p:cNvSpPr txBox="1"/>
            <p:nvPr/>
          </p:nvSpPr>
          <p:spPr>
            <a:xfrm>
              <a:off x="4268133" y="5021922"/>
              <a:ext cx="1684022" cy="338554"/>
            </a:xfrm>
            <a:prstGeom prst="rect">
              <a:avLst/>
            </a:prstGeom>
            <a:noFill/>
          </p:spPr>
          <p:txBody>
            <a:bodyPr wrap="square" rtlCol="0">
              <a:spAutoFit/>
            </a:bodyPr>
            <a:lstStyle/>
            <a:p>
              <a:r>
                <a:rPr lang="en-US" sz="1600" b="1" dirty="0">
                  <a:solidFill>
                    <a:schemeClr val="bg1"/>
                  </a:solidFill>
                </a:rPr>
                <a:t>master 2 ports</a:t>
              </a:r>
            </a:p>
          </p:txBody>
        </p:sp>
        <p:sp>
          <p:nvSpPr>
            <p:cNvPr id="29" name="TextBox 28">
              <a:extLst>
                <a:ext uri="{FF2B5EF4-FFF2-40B4-BE49-F238E27FC236}">
                  <a16:creationId xmlns:a16="http://schemas.microsoft.com/office/drawing/2014/main" id="{DEE719F9-CBB6-1657-70EA-A037326BF131}"/>
                </a:ext>
              </a:extLst>
            </p:cNvPr>
            <p:cNvSpPr txBox="1"/>
            <p:nvPr/>
          </p:nvSpPr>
          <p:spPr>
            <a:xfrm>
              <a:off x="7022976" y="5031265"/>
              <a:ext cx="1684022" cy="338554"/>
            </a:xfrm>
            <a:prstGeom prst="rect">
              <a:avLst/>
            </a:prstGeom>
            <a:noFill/>
          </p:spPr>
          <p:txBody>
            <a:bodyPr wrap="square" rtlCol="0">
              <a:spAutoFit/>
            </a:bodyPr>
            <a:lstStyle/>
            <a:p>
              <a:r>
                <a:rPr lang="en-US" sz="1600" b="1" dirty="0">
                  <a:solidFill>
                    <a:schemeClr val="bg1"/>
                  </a:solidFill>
                </a:rPr>
                <a:t>slave 2 ports</a:t>
              </a:r>
            </a:p>
          </p:txBody>
        </p:sp>
        <p:sp>
          <p:nvSpPr>
            <p:cNvPr id="31" name="TextBox 30">
              <a:extLst>
                <a:ext uri="{FF2B5EF4-FFF2-40B4-BE49-F238E27FC236}">
                  <a16:creationId xmlns:a16="http://schemas.microsoft.com/office/drawing/2014/main" id="{D2BA5336-6BA1-8BD6-3C64-FA387E63B32A}"/>
                </a:ext>
              </a:extLst>
            </p:cNvPr>
            <p:cNvSpPr txBox="1"/>
            <p:nvPr/>
          </p:nvSpPr>
          <p:spPr>
            <a:xfrm>
              <a:off x="6900541" y="1073100"/>
              <a:ext cx="1684022" cy="338554"/>
            </a:xfrm>
            <a:prstGeom prst="rect">
              <a:avLst/>
            </a:prstGeom>
            <a:noFill/>
          </p:spPr>
          <p:txBody>
            <a:bodyPr wrap="square" rtlCol="0">
              <a:spAutoFit/>
            </a:bodyPr>
            <a:lstStyle/>
            <a:p>
              <a:r>
                <a:rPr lang="en-US" sz="1600" b="1" dirty="0">
                  <a:solidFill>
                    <a:schemeClr val="bg1"/>
                  </a:solidFill>
                </a:rPr>
                <a:t>slave 0 ports</a:t>
              </a:r>
            </a:p>
          </p:txBody>
        </p:sp>
        <p:sp>
          <p:nvSpPr>
            <p:cNvPr id="33" name="TextBox 32">
              <a:extLst>
                <a:ext uri="{FF2B5EF4-FFF2-40B4-BE49-F238E27FC236}">
                  <a16:creationId xmlns:a16="http://schemas.microsoft.com/office/drawing/2014/main" id="{EBF0A4AC-54BF-F0BF-579D-AB6D010C438F}"/>
                </a:ext>
              </a:extLst>
            </p:cNvPr>
            <p:cNvSpPr txBox="1"/>
            <p:nvPr/>
          </p:nvSpPr>
          <p:spPr>
            <a:xfrm rot="16200000">
              <a:off x="7822080" y="2473648"/>
              <a:ext cx="1544749" cy="338554"/>
            </a:xfrm>
            <a:prstGeom prst="rect">
              <a:avLst/>
            </a:prstGeom>
            <a:noFill/>
          </p:spPr>
          <p:txBody>
            <a:bodyPr wrap="square" rtlCol="0">
              <a:spAutoFit/>
            </a:bodyPr>
            <a:lstStyle/>
            <a:p>
              <a:r>
                <a:rPr lang="en-US" sz="1600" b="1" dirty="0">
                  <a:solidFill>
                    <a:schemeClr val="bg1"/>
                  </a:solidFill>
                </a:rPr>
                <a:t>slave 1 ports</a:t>
              </a:r>
            </a:p>
          </p:txBody>
        </p:sp>
        <p:sp>
          <p:nvSpPr>
            <p:cNvPr id="35" name="TextBox 34">
              <a:extLst>
                <a:ext uri="{FF2B5EF4-FFF2-40B4-BE49-F238E27FC236}">
                  <a16:creationId xmlns:a16="http://schemas.microsoft.com/office/drawing/2014/main" id="{7B786AC2-41EF-E3D7-7926-9CF4CBCD5314}"/>
                </a:ext>
              </a:extLst>
            </p:cNvPr>
            <p:cNvSpPr txBox="1"/>
            <p:nvPr/>
          </p:nvSpPr>
          <p:spPr>
            <a:xfrm rot="16200000">
              <a:off x="8059643" y="4070392"/>
              <a:ext cx="1161064" cy="338554"/>
            </a:xfrm>
            <a:prstGeom prst="rect">
              <a:avLst/>
            </a:prstGeom>
            <a:noFill/>
          </p:spPr>
          <p:txBody>
            <a:bodyPr wrap="square">
              <a:spAutoFit/>
            </a:bodyPr>
            <a:lstStyle/>
            <a:p>
              <a:r>
                <a:rPr lang="en-US" sz="1600" b="1" dirty="0">
                  <a:solidFill>
                    <a:schemeClr val="bg1"/>
                  </a:solidFill>
                </a:rPr>
                <a:t>AResetn</a:t>
              </a:r>
            </a:p>
          </p:txBody>
        </p:sp>
        <p:sp>
          <p:nvSpPr>
            <p:cNvPr id="37" name="TextBox 36">
              <a:extLst>
                <a:ext uri="{FF2B5EF4-FFF2-40B4-BE49-F238E27FC236}">
                  <a16:creationId xmlns:a16="http://schemas.microsoft.com/office/drawing/2014/main" id="{9D18758D-A105-6E18-452C-F450AFC772C8}"/>
                </a:ext>
              </a:extLst>
            </p:cNvPr>
            <p:cNvSpPr txBox="1"/>
            <p:nvPr/>
          </p:nvSpPr>
          <p:spPr>
            <a:xfrm>
              <a:off x="8321298" y="5021922"/>
              <a:ext cx="565865" cy="307777"/>
            </a:xfrm>
            <a:prstGeom prst="rect">
              <a:avLst/>
            </a:prstGeom>
            <a:noFill/>
          </p:spPr>
          <p:txBody>
            <a:bodyPr wrap="square">
              <a:spAutoFit/>
            </a:bodyPr>
            <a:lstStyle/>
            <a:p>
              <a:r>
                <a:rPr lang="en-US" sz="1400" b="1" dirty="0">
                  <a:solidFill>
                    <a:schemeClr val="bg1"/>
                  </a:solidFill>
                </a:rPr>
                <a:t>ACLK</a:t>
              </a:r>
            </a:p>
          </p:txBody>
        </p:sp>
        <p:cxnSp>
          <p:nvCxnSpPr>
            <p:cNvPr id="39" name="Straight Arrow Connector 38">
              <a:extLst>
                <a:ext uri="{FF2B5EF4-FFF2-40B4-BE49-F238E27FC236}">
                  <a16:creationId xmlns:a16="http://schemas.microsoft.com/office/drawing/2014/main" id="{9C1D2EBA-087E-A732-21ED-DD1DEAA42EE3}"/>
                </a:ext>
              </a:extLst>
            </p:cNvPr>
            <p:cNvCxnSpPr>
              <a:cxnSpLocks/>
            </p:cNvCxnSpPr>
            <p:nvPr/>
          </p:nvCxnSpPr>
          <p:spPr>
            <a:xfrm flipH="1" flipV="1">
              <a:off x="8409778" y="4904758"/>
              <a:ext cx="88262" cy="137583"/>
            </a:xfrm>
            <a:prstGeom prst="straightConnector1">
              <a:avLst/>
            </a:prstGeom>
            <a:ln w="9525"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CC7F49D0-26F4-A72F-DFE3-F39368EE8455}"/>
                </a:ext>
              </a:extLst>
            </p:cNvPr>
            <p:cNvCxnSpPr>
              <a:cxnSpLocks/>
            </p:cNvCxnSpPr>
            <p:nvPr/>
          </p:nvCxnSpPr>
          <p:spPr>
            <a:xfrm flipH="1" flipV="1">
              <a:off x="8478814" y="4788739"/>
              <a:ext cx="201854" cy="5820"/>
            </a:xfrm>
            <a:prstGeom prst="straightConnector1">
              <a:avLst/>
            </a:prstGeom>
            <a:ln w="9525"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674944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5A6AD34-1869-AE71-A1E2-71293D28BCE2}"/>
              </a:ext>
            </a:extLst>
          </p:cNvPr>
          <p:cNvGrpSpPr/>
          <p:nvPr/>
        </p:nvGrpSpPr>
        <p:grpSpPr>
          <a:xfrm>
            <a:off x="1087374" y="1425519"/>
            <a:ext cx="10017252" cy="2972648"/>
            <a:chOff x="1024128" y="456352"/>
            <a:chExt cx="10017252" cy="2972648"/>
          </a:xfrm>
        </p:grpSpPr>
        <p:grpSp>
          <p:nvGrpSpPr>
            <p:cNvPr id="25" name="Group 24">
              <a:extLst>
                <a:ext uri="{FF2B5EF4-FFF2-40B4-BE49-F238E27FC236}">
                  <a16:creationId xmlns:a16="http://schemas.microsoft.com/office/drawing/2014/main" id="{4EAD4BE4-270F-E3B5-D17E-C44326375DF1}"/>
                </a:ext>
              </a:extLst>
            </p:cNvPr>
            <p:cNvGrpSpPr/>
            <p:nvPr/>
          </p:nvGrpSpPr>
          <p:grpSpPr>
            <a:xfrm>
              <a:off x="1024128" y="533149"/>
              <a:ext cx="10017252" cy="2895851"/>
              <a:chOff x="1024128" y="533149"/>
              <a:chExt cx="10017252" cy="2895851"/>
            </a:xfrm>
          </p:grpSpPr>
          <p:pic>
            <p:nvPicPr>
              <p:cNvPr id="3" name="Picture 2">
                <a:extLst>
                  <a:ext uri="{FF2B5EF4-FFF2-40B4-BE49-F238E27FC236}">
                    <a16:creationId xmlns:a16="http://schemas.microsoft.com/office/drawing/2014/main" id="{2D641A5A-AC0F-2068-6C63-4718ADEB98A9}"/>
                  </a:ext>
                </a:extLst>
              </p:cNvPr>
              <p:cNvPicPr>
                <a:picLocks noChangeAspect="1"/>
              </p:cNvPicPr>
              <p:nvPr/>
            </p:nvPicPr>
            <p:blipFill>
              <a:blip r:embed="rId2"/>
              <a:srcRect l="516" r="427"/>
              <a:stretch>
                <a:fillRect/>
              </a:stretch>
            </p:blipFill>
            <p:spPr>
              <a:xfrm>
                <a:off x="1024128" y="533149"/>
                <a:ext cx="10017252" cy="2895851"/>
              </a:xfrm>
              <a:prstGeom prst="rect">
                <a:avLst/>
              </a:prstGeom>
            </p:spPr>
          </p:pic>
          <p:sp>
            <p:nvSpPr>
              <p:cNvPr id="7" name="Rectangle 6">
                <a:extLst>
                  <a:ext uri="{FF2B5EF4-FFF2-40B4-BE49-F238E27FC236}">
                    <a16:creationId xmlns:a16="http://schemas.microsoft.com/office/drawing/2014/main" id="{358C7618-8A87-992F-4136-343AE330324D}"/>
                  </a:ext>
                </a:extLst>
              </p:cNvPr>
              <p:cNvSpPr/>
              <p:nvPr/>
            </p:nvSpPr>
            <p:spPr>
              <a:xfrm>
                <a:off x="5246370" y="3232785"/>
                <a:ext cx="455295" cy="167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A0E053-88DD-4240-C2F2-14AB2483667C}"/>
                  </a:ext>
                </a:extLst>
              </p:cNvPr>
              <p:cNvSpPr txBox="1"/>
              <p:nvPr/>
            </p:nvSpPr>
            <p:spPr>
              <a:xfrm>
                <a:off x="5193030" y="3182779"/>
                <a:ext cx="88392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QoS+DRR</a:t>
                </a:r>
              </a:p>
            </p:txBody>
          </p:sp>
          <p:sp>
            <p:nvSpPr>
              <p:cNvPr id="12" name="Rectangle 11">
                <a:extLst>
                  <a:ext uri="{FF2B5EF4-FFF2-40B4-BE49-F238E27FC236}">
                    <a16:creationId xmlns:a16="http://schemas.microsoft.com/office/drawing/2014/main" id="{B5079E5D-592A-8AF7-895A-E783228C70A5}"/>
                  </a:ext>
                </a:extLst>
              </p:cNvPr>
              <p:cNvSpPr/>
              <p:nvPr/>
            </p:nvSpPr>
            <p:spPr>
              <a:xfrm>
                <a:off x="2741930" y="3232785"/>
                <a:ext cx="455295" cy="167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4FF685-04E8-046B-DDFF-1964E1FEB5CD}"/>
                  </a:ext>
                </a:extLst>
              </p:cNvPr>
              <p:cNvSpPr txBox="1"/>
              <p:nvPr/>
            </p:nvSpPr>
            <p:spPr>
              <a:xfrm>
                <a:off x="2688590" y="3182779"/>
                <a:ext cx="88392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QoS+DRR</a:t>
                </a:r>
              </a:p>
            </p:txBody>
          </p:sp>
          <p:sp>
            <p:nvSpPr>
              <p:cNvPr id="16" name="Rectangle 15">
                <a:extLst>
                  <a:ext uri="{FF2B5EF4-FFF2-40B4-BE49-F238E27FC236}">
                    <a16:creationId xmlns:a16="http://schemas.microsoft.com/office/drawing/2014/main" id="{A3BB428F-BEE7-AE89-CFE6-F5B17DC7EEF2}"/>
                  </a:ext>
                </a:extLst>
              </p:cNvPr>
              <p:cNvSpPr/>
              <p:nvPr/>
            </p:nvSpPr>
            <p:spPr>
              <a:xfrm>
                <a:off x="7788912" y="3232785"/>
                <a:ext cx="455295" cy="167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A04CCC6-C858-2E35-A320-CB566C157C67}"/>
                  </a:ext>
                </a:extLst>
              </p:cNvPr>
              <p:cNvSpPr txBox="1"/>
              <p:nvPr/>
            </p:nvSpPr>
            <p:spPr>
              <a:xfrm>
                <a:off x="7735572" y="3182779"/>
                <a:ext cx="88392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QoS+DRR</a:t>
                </a:r>
              </a:p>
            </p:txBody>
          </p:sp>
          <p:sp>
            <p:nvSpPr>
              <p:cNvPr id="20" name="Rectangle 19">
                <a:extLst>
                  <a:ext uri="{FF2B5EF4-FFF2-40B4-BE49-F238E27FC236}">
                    <a16:creationId xmlns:a16="http://schemas.microsoft.com/office/drawing/2014/main" id="{FDC99F99-A339-B85A-FE89-A6946A2CAC99}"/>
                  </a:ext>
                </a:extLst>
              </p:cNvPr>
              <p:cNvSpPr/>
              <p:nvPr/>
            </p:nvSpPr>
            <p:spPr>
              <a:xfrm>
                <a:off x="10307334" y="3232785"/>
                <a:ext cx="455295" cy="167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5542374-F275-1744-307A-E700B7B6150A}"/>
                  </a:ext>
                </a:extLst>
              </p:cNvPr>
              <p:cNvSpPr txBox="1"/>
              <p:nvPr/>
            </p:nvSpPr>
            <p:spPr>
              <a:xfrm>
                <a:off x="10253994" y="3182779"/>
                <a:ext cx="787386"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QoS+DRR</a:t>
                </a:r>
              </a:p>
            </p:txBody>
          </p:sp>
        </p:grpSp>
        <p:sp>
          <p:nvSpPr>
            <p:cNvPr id="4" name="TextBox 3">
              <a:extLst>
                <a:ext uri="{FF2B5EF4-FFF2-40B4-BE49-F238E27FC236}">
                  <a16:creationId xmlns:a16="http://schemas.microsoft.com/office/drawing/2014/main" id="{8A8F6C6D-427A-DF70-B2A2-ACF9F5101FBE}"/>
                </a:ext>
              </a:extLst>
            </p:cNvPr>
            <p:cNvSpPr txBox="1"/>
            <p:nvPr/>
          </p:nvSpPr>
          <p:spPr>
            <a:xfrm>
              <a:off x="1904999" y="456352"/>
              <a:ext cx="8991601" cy="27699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                                                     (b)                                                      (c)                                                 (d)</a:t>
              </a:r>
              <a:endParaRPr lang="en-US" sz="14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37641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D36E1-9B78-D9E5-1850-1307EEEB9C7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2CE4551-F8C9-84FF-7EE1-65309C7F28B1}"/>
              </a:ext>
            </a:extLst>
          </p:cNvPr>
          <p:cNvSpPr txBox="1"/>
          <p:nvPr/>
        </p:nvSpPr>
        <p:spPr>
          <a:xfrm>
            <a:off x="7472423" y="2401090"/>
            <a:ext cx="4719577" cy="1569660"/>
          </a:xfrm>
          <a:prstGeom prst="rect">
            <a:avLst/>
          </a:prstGeom>
          <a:noFill/>
        </p:spPr>
        <p:txBody>
          <a:bodyPr wrap="square">
            <a:spAutoFit/>
          </a:bodyPr>
          <a:lstStyle/>
          <a:p>
            <a:r>
              <a:rPr lang="en-US" sz="1600" dirty="0"/>
              <a:t>Everything costs more to make our architecture be more aware of the requests its serving, but even though critical path delay rises, we get decreased latency for our request servicing, which for critical requests like time sensitive camera/sensor data processing is very important</a:t>
            </a:r>
            <a:endParaRPr lang="en-US" dirty="0"/>
          </a:p>
        </p:txBody>
      </p:sp>
      <p:pic>
        <p:nvPicPr>
          <p:cNvPr id="13" name="Picture 12">
            <a:extLst>
              <a:ext uri="{FF2B5EF4-FFF2-40B4-BE49-F238E27FC236}">
                <a16:creationId xmlns:a16="http://schemas.microsoft.com/office/drawing/2014/main" id="{6BF04264-5904-7641-2DBC-F956649D0CCB}"/>
              </a:ext>
            </a:extLst>
          </p:cNvPr>
          <p:cNvPicPr>
            <a:picLocks noChangeAspect="1"/>
          </p:cNvPicPr>
          <p:nvPr/>
        </p:nvPicPr>
        <p:blipFill>
          <a:blip r:embed="rId2">
            <a:extLst>
              <a:ext uri="{28A0092B-C50C-407E-A947-70E740481C1C}">
                <a14:useLocalDpi xmlns:a14="http://schemas.microsoft.com/office/drawing/2010/main" val="0"/>
              </a:ext>
            </a:extLst>
          </a:blip>
          <a:srcRect l="5406" t="6869" r="9122" b="5358"/>
          <a:stretch>
            <a:fillRect/>
          </a:stretch>
        </p:blipFill>
        <p:spPr>
          <a:xfrm>
            <a:off x="802639" y="782321"/>
            <a:ext cx="6309361" cy="4807198"/>
          </a:xfrm>
          <a:prstGeom prst="rect">
            <a:avLst/>
          </a:prstGeom>
        </p:spPr>
      </p:pic>
    </p:spTree>
    <p:extLst>
      <p:ext uri="{BB962C8B-B14F-4D97-AF65-F5344CB8AC3E}">
        <p14:creationId xmlns:p14="http://schemas.microsoft.com/office/powerpoint/2010/main" val="1929540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3433</TotalTime>
  <Words>659</Words>
  <Application>Microsoft Office PowerPoint</Application>
  <PresentationFormat>Widescreen</PresentationFormat>
  <Paragraphs>111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1906055 - Tasmin Khan</dc:creator>
  <cp:lastModifiedBy>1906055 - Tasmin Khan</cp:lastModifiedBy>
  <cp:revision>43</cp:revision>
  <dcterms:created xsi:type="dcterms:W3CDTF">2026-09-13T05:40:06Z</dcterms:created>
  <dcterms:modified xsi:type="dcterms:W3CDTF">2026-09-19T06:13:24Z</dcterms:modified>
</cp:coreProperties>
</file>